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64" r:id="rId2"/>
    <p:sldId id="256" r:id="rId3"/>
    <p:sldId id="257" r:id="rId4"/>
    <p:sldId id="258" r:id="rId5"/>
    <p:sldId id="259" r:id="rId6"/>
    <p:sldId id="260" r:id="rId7"/>
    <p:sldId id="263" r:id="rId8"/>
    <p:sldId id="261" r:id="rId9"/>
    <p:sldId id="262"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10"/>
  </p:normalViewPr>
  <p:slideViewPr>
    <p:cSldViewPr snapToGrid="0" snapToObjects="1">
      <p:cViewPr varScale="1">
        <p:scale>
          <a:sx n="82" d="100"/>
          <a:sy n="82" d="100"/>
        </p:scale>
        <p:origin x="71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venkat rajireddy" userId="23746ddf224623a2" providerId="LiveId" clId="{152FAC0E-56C9-412D-AF63-2C84C41469A4}"/>
    <pc:docChg chg="modSld sldOrd">
      <pc:chgData name="Gvenkat rajireddy" userId="23746ddf224623a2" providerId="LiveId" clId="{152FAC0E-56C9-412D-AF63-2C84C41469A4}" dt="2026-08-20T04:37:01.418" v="2" actId="1076"/>
      <pc:docMkLst>
        <pc:docMk/>
      </pc:docMkLst>
      <pc:sldChg chg="modSp mod">
        <pc:chgData name="Gvenkat rajireddy" userId="23746ddf224623a2" providerId="LiveId" clId="{152FAC0E-56C9-412D-AF63-2C84C41469A4}" dt="2026-08-20T04:37:01.418" v="2" actId="1076"/>
        <pc:sldMkLst>
          <pc:docMk/>
          <pc:sldMk cId="0" sldId="256"/>
        </pc:sldMkLst>
        <pc:spChg chg="mod">
          <ac:chgData name="Gvenkat rajireddy" userId="23746ddf224623a2" providerId="LiveId" clId="{152FAC0E-56C9-412D-AF63-2C84C41469A4}" dt="2026-08-20T04:37:01.418" v="2" actId="1076"/>
          <ac:spMkLst>
            <pc:docMk/>
            <pc:sldMk cId="0" sldId="256"/>
            <ac:spMk id="2" creationId="{00000000-0000-0000-0000-000000000000}"/>
          </ac:spMkLst>
        </pc:spChg>
      </pc:sldChg>
      <pc:sldChg chg="ord">
        <pc:chgData name="Gvenkat rajireddy" userId="23746ddf224623a2" providerId="LiveId" clId="{152FAC0E-56C9-412D-AF63-2C84C41469A4}" dt="2026-08-20T01:49:24.343" v="1"/>
        <pc:sldMkLst>
          <pc:docMk/>
          <pc:sldMk cId="0" sldId="26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308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24813C-8CC6-D3FF-8603-09CEA6EE5727}"/>
              </a:ext>
            </a:extLst>
          </p:cNvPr>
          <p:cNvSpPr txBox="1"/>
          <p:nvPr/>
        </p:nvSpPr>
        <p:spPr>
          <a:xfrm>
            <a:off x="2699656" y="1483567"/>
            <a:ext cx="7237445" cy="1015663"/>
          </a:xfrm>
          <a:prstGeom prst="rect">
            <a:avLst/>
          </a:prstGeom>
          <a:noFill/>
        </p:spPr>
        <p:txBody>
          <a:bodyPr wrap="square" rtlCol="0">
            <a:spAutoFit/>
          </a:bodyPr>
          <a:lstStyle/>
          <a:p>
            <a:r>
              <a:rPr lang="en-US" sz="6000" dirty="0" err="1">
                <a:latin typeface="Arial Black" panose="020B0A04020102020204" pitchFamily="34" charset="0"/>
              </a:rPr>
              <a:t>CampusCycle</a:t>
            </a:r>
            <a:endParaRPr lang="en-US" sz="6000" dirty="0">
              <a:latin typeface="Arial Black" panose="020B0A04020102020204" pitchFamily="34" charset="0"/>
            </a:endParaRPr>
          </a:p>
        </p:txBody>
      </p:sp>
      <p:sp>
        <p:nvSpPr>
          <p:cNvPr id="3" name="TextBox 2">
            <a:extLst>
              <a:ext uri="{FF2B5EF4-FFF2-40B4-BE49-F238E27FC236}">
                <a16:creationId xmlns:a16="http://schemas.microsoft.com/office/drawing/2014/main" id="{2577C07E-96FA-DAE3-A307-460507EE02B5}"/>
              </a:ext>
            </a:extLst>
          </p:cNvPr>
          <p:cNvSpPr txBox="1"/>
          <p:nvPr/>
        </p:nvSpPr>
        <p:spPr>
          <a:xfrm>
            <a:off x="1642188" y="3200400"/>
            <a:ext cx="9237306" cy="1815882"/>
          </a:xfrm>
          <a:prstGeom prst="rect">
            <a:avLst/>
          </a:prstGeom>
          <a:noFill/>
        </p:spPr>
        <p:txBody>
          <a:bodyPr wrap="square" rtlCol="0">
            <a:spAutoFit/>
          </a:bodyPr>
          <a:lstStyle/>
          <a:p>
            <a:r>
              <a:rPr lang="en-US" sz="2800" b="1" dirty="0"/>
              <a:t>24EG105P24 – G. Sohan Reddy</a:t>
            </a:r>
            <a:br>
              <a:rPr lang="en-US" sz="2800" b="1" dirty="0"/>
            </a:br>
            <a:r>
              <a:rPr lang="en-US" sz="2800" b="1" dirty="0"/>
              <a:t>24EG105P39 -  M. Sai Nikhil</a:t>
            </a:r>
            <a:br>
              <a:rPr lang="en-US" sz="2800" b="1" dirty="0"/>
            </a:br>
            <a:r>
              <a:rPr lang="en-US" sz="2800" b="1" dirty="0"/>
              <a:t>24EG105P49 -  K. Naveen </a:t>
            </a:r>
            <a:br>
              <a:rPr lang="en-US" sz="2800" b="1" dirty="0"/>
            </a:br>
            <a:r>
              <a:rPr lang="en-US" sz="2800" b="1" dirty="0"/>
              <a:t>24EG105P52 - P. Manoj Kumar</a:t>
            </a:r>
          </a:p>
        </p:txBody>
      </p:sp>
    </p:spTree>
    <p:extLst>
      <p:ext uri="{BB962C8B-B14F-4D97-AF65-F5344CB8AC3E}">
        <p14:creationId xmlns:p14="http://schemas.microsoft.com/office/powerpoint/2010/main" val="2058488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2C5F2D"/>
        </a:solidFill>
        <a:effectLst/>
      </p:bgPr>
    </p:bg>
    <p:spTree>
      <p:nvGrpSpPr>
        <p:cNvPr id="1" name=""/>
        <p:cNvGrpSpPr/>
        <p:nvPr/>
      </p:nvGrpSpPr>
      <p:grpSpPr>
        <a:xfrm>
          <a:off x="0" y="0"/>
          <a:ext cx="0" cy="0"/>
          <a:chOff x="0" y="0"/>
          <a:chExt cx="0" cy="0"/>
        </a:xfrm>
      </p:grpSpPr>
      <p:sp>
        <p:nvSpPr>
          <p:cNvPr id="2" name="Shape 0"/>
          <p:cNvSpPr/>
          <p:nvPr/>
        </p:nvSpPr>
        <p:spPr>
          <a:xfrm>
            <a:off x="-2680996" y="-45720"/>
            <a:ext cx="12188952" cy="6858000"/>
          </a:xfrm>
          <a:prstGeom prst="rect">
            <a:avLst/>
          </a:prstGeom>
          <a:solidFill>
            <a:srgbClr val="2C5F2D"/>
          </a:solidFill>
          <a:ln/>
        </p:spPr>
      </p:sp>
      <p:sp>
        <p:nvSpPr>
          <p:cNvPr id="3" name="Text 1"/>
          <p:cNvSpPr/>
          <p:nvPr/>
        </p:nvSpPr>
        <p:spPr>
          <a:xfrm>
            <a:off x="731520" y="640080"/>
            <a:ext cx="10515600" cy="91440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CampusCycle</a:t>
            </a:r>
            <a:endParaRPr lang="en-US" sz="4400" dirty="0"/>
          </a:p>
        </p:txBody>
      </p:sp>
      <p:sp>
        <p:nvSpPr>
          <p:cNvPr id="4" name="Text 2"/>
          <p:cNvSpPr/>
          <p:nvPr/>
        </p:nvSpPr>
        <p:spPr>
          <a:xfrm>
            <a:off x="731520" y="1417320"/>
            <a:ext cx="10515600" cy="457200"/>
          </a:xfrm>
          <a:prstGeom prst="rect">
            <a:avLst/>
          </a:prstGeom>
          <a:noFill/>
          <a:ln/>
        </p:spPr>
        <p:txBody>
          <a:bodyPr wrap="square" rtlCol="0" anchor="ctr"/>
          <a:lstStyle/>
          <a:p>
            <a:pPr marL="0" indent="0">
              <a:buNone/>
            </a:pPr>
            <a:r>
              <a:rPr lang="en-US" sz="1800" i="1" dirty="0">
                <a:solidFill>
                  <a:srgbClr val="97BC62"/>
                </a:solidFill>
                <a:latin typeface="Calibri" pitchFamily="34" charset="0"/>
                <a:ea typeface="Calibri" pitchFamily="34" charset="-122"/>
                <a:cs typeface="Calibri" pitchFamily="34" charset="-120"/>
              </a:rPr>
              <a:t>A Campus Resource Sharing &amp; Exchange Ecosystem</a:t>
            </a:r>
            <a:endParaRPr lang="en-US" sz="1800" dirty="0"/>
          </a:p>
        </p:txBody>
      </p:sp>
      <p:sp>
        <p:nvSpPr>
          <p:cNvPr id="5" name="Shape 3"/>
          <p:cNvSpPr/>
          <p:nvPr/>
        </p:nvSpPr>
        <p:spPr>
          <a:xfrm>
            <a:off x="731520" y="2148840"/>
            <a:ext cx="10698480" cy="1737360"/>
          </a:xfrm>
          <a:prstGeom prst="roundRect">
            <a:avLst>
              <a:gd name="adj" fmla="val 5263"/>
            </a:avLst>
          </a:prstGeom>
          <a:solidFill>
            <a:srgbClr val="1E4020"/>
          </a:solidFill>
          <a:ln/>
        </p:spPr>
      </p:sp>
      <p:sp>
        <p:nvSpPr>
          <p:cNvPr id="6" name="Text 4"/>
          <p:cNvSpPr/>
          <p:nvPr/>
        </p:nvSpPr>
        <p:spPr>
          <a:xfrm>
            <a:off x="1005840" y="2286000"/>
            <a:ext cx="4572000" cy="320040"/>
          </a:xfrm>
          <a:prstGeom prst="rect">
            <a:avLst/>
          </a:prstGeom>
          <a:noFill/>
          <a:ln/>
        </p:spPr>
        <p:txBody>
          <a:bodyPr wrap="square" rtlCol="0" anchor="ctr"/>
          <a:lstStyle/>
          <a:p>
            <a:pPr marL="0" indent="0">
              <a:buNone/>
            </a:pPr>
            <a:r>
              <a:rPr lang="en-US" sz="1300" b="1" kern="0" spc="200" dirty="0">
                <a:solidFill>
                  <a:srgbClr val="97BC62"/>
                </a:solidFill>
                <a:latin typeface="Calibri" pitchFamily="34" charset="0"/>
                <a:ea typeface="Calibri" pitchFamily="34" charset="-122"/>
                <a:cs typeface="Calibri" pitchFamily="34" charset="-120"/>
              </a:rPr>
              <a:t>ABSTRACT</a:t>
            </a:r>
            <a:endParaRPr lang="en-US" sz="1300" dirty="0"/>
          </a:p>
        </p:txBody>
      </p:sp>
      <p:sp>
        <p:nvSpPr>
          <p:cNvPr id="7" name="Text 5"/>
          <p:cNvSpPr/>
          <p:nvPr/>
        </p:nvSpPr>
        <p:spPr>
          <a:xfrm>
            <a:off x="1005840" y="2606040"/>
            <a:ext cx="10149840" cy="1188720"/>
          </a:xfrm>
          <a:prstGeom prst="rect">
            <a:avLst/>
          </a:prstGeom>
          <a:noFill/>
          <a:ln/>
        </p:spPr>
        <p:txBody>
          <a:bodyPr wrap="square" rtlCol="0" anchor="t"/>
          <a:lstStyle/>
          <a:p>
            <a:pPr marL="0" indent="0">
              <a:lnSpc>
                <a:spcPct val="115000"/>
              </a:lnSpc>
              <a:buNone/>
            </a:pPr>
            <a:r>
              <a:rPr lang="en-US" sz="1350" dirty="0">
                <a:solidFill>
                  <a:srgbClr val="F0F0F0"/>
                </a:solidFill>
                <a:latin typeface="Calibri" pitchFamily="34" charset="0"/>
                <a:ea typeface="Calibri" pitchFamily="34" charset="-122"/>
                <a:cs typeface="Calibri" pitchFamily="34" charset="-120"/>
              </a:rPr>
              <a:t>University students regularly buy textbooks, lab equipment, calculators, project components, hostel furniture, and electronics — then exchange them through fragmented, informal channels like WhatsApp groups and personal contacts once no longer needed. Reusable resources stay underutilized while other students keep buying new, driving up cost and waste.</a:t>
            </a:r>
            <a:endParaRPr lang="en-US" sz="1350" dirty="0"/>
          </a:p>
        </p:txBody>
      </p:sp>
      <p:sp>
        <p:nvSpPr>
          <p:cNvPr id="8" name="Shape 6"/>
          <p:cNvSpPr/>
          <p:nvPr/>
        </p:nvSpPr>
        <p:spPr>
          <a:xfrm>
            <a:off x="731520" y="4069080"/>
            <a:ext cx="10698480" cy="1965960"/>
          </a:xfrm>
          <a:prstGeom prst="roundRect">
            <a:avLst>
              <a:gd name="adj" fmla="val 4651"/>
            </a:avLst>
          </a:prstGeom>
          <a:solidFill>
            <a:srgbClr val="FFFFFF"/>
          </a:solidFill>
          <a:ln/>
        </p:spPr>
      </p:sp>
      <p:sp>
        <p:nvSpPr>
          <p:cNvPr id="9" name="Text 7"/>
          <p:cNvSpPr/>
          <p:nvPr/>
        </p:nvSpPr>
        <p:spPr>
          <a:xfrm>
            <a:off x="1005840" y="4206240"/>
            <a:ext cx="5486400" cy="320040"/>
          </a:xfrm>
          <a:prstGeom prst="rect">
            <a:avLst/>
          </a:prstGeom>
          <a:noFill/>
          <a:ln/>
        </p:spPr>
        <p:txBody>
          <a:bodyPr wrap="square" rtlCol="0" anchor="ctr"/>
          <a:lstStyle/>
          <a:p>
            <a:pPr marL="0" indent="0">
              <a:buNone/>
            </a:pPr>
            <a:r>
              <a:rPr lang="en-US" sz="1300" b="1" kern="0" spc="200" dirty="0">
                <a:solidFill>
                  <a:srgbClr val="B85042"/>
                </a:solidFill>
                <a:latin typeface="Calibri" pitchFamily="34" charset="0"/>
                <a:ea typeface="Calibri" pitchFamily="34" charset="-122"/>
                <a:cs typeface="Calibri" pitchFamily="34" charset="-120"/>
              </a:rPr>
              <a:t>PROBLEM STATEMENT</a:t>
            </a:r>
            <a:endParaRPr lang="en-US" sz="1300" dirty="0"/>
          </a:p>
        </p:txBody>
      </p:sp>
      <p:sp>
        <p:nvSpPr>
          <p:cNvPr id="10" name="Text 8"/>
          <p:cNvSpPr/>
          <p:nvPr/>
        </p:nvSpPr>
        <p:spPr>
          <a:xfrm>
            <a:off x="1005840" y="4526280"/>
            <a:ext cx="10149840" cy="1417320"/>
          </a:xfrm>
          <a:prstGeom prst="rect">
            <a:avLst/>
          </a:prstGeom>
          <a:noFill/>
          <a:ln/>
        </p:spPr>
        <p:txBody>
          <a:bodyPr wrap="square" rtlCol="0" anchor="t"/>
          <a:lstStyle/>
          <a:p>
            <a:pPr marL="0" indent="0">
              <a:lnSpc>
                <a:spcPct val="120000"/>
              </a:lnSpc>
              <a:buNone/>
            </a:pPr>
            <a:r>
              <a:rPr lang="en-US" sz="1400" dirty="0">
                <a:solidFill>
                  <a:srgbClr val="2A2A2A"/>
                </a:solidFill>
                <a:latin typeface="Calibri" pitchFamily="34" charset="0"/>
                <a:ea typeface="Calibri" pitchFamily="34" charset="-122"/>
                <a:cs typeface="Calibri" pitchFamily="34" charset="-120"/>
              </a:rPr>
              <a:t>The existing campus resource exchange system lacks an organized, easily accessible way for students to discover, exchange, reuse, rent, borrow, or donate resources. Information is scattered across multiple channels — making discovery difficult, reducing reuse, and increasing unnecessary expenditure.</a:t>
            </a:r>
            <a:endParaRPr lang="en-US" sz="1400" dirty="0"/>
          </a:p>
        </p:txBody>
      </p:sp>
      <p:sp>
        <p:nvSpPr>
          <p:cNvPr id="11" name="Text 9"/>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548640"/>
          </a:xfrm>
          <a:prstGeom prst="rect">
            <a:avLst/>
          </a:prstGeom>
          <a:noFill/>
          <a:ln/>
        </p:spPr>
        <p:txBody>
          <a:bodyPr wrap="square" rtlCol="0" anchor="ctr"/>
          <a:lstStyle/>
          <a:p>
            <a:pPr marL="0" indent="0">
              <a:buNone/>
            </a:pPr>
            <a:r>
              <a:rPr lang="en-US" sz="3000" b="1" dirty="0">
                <a:solidFill>
                  <a:srgbClr val="2C5F2D"/>
                </a:solidFill>
                <a:latin typeface="Cambria" pitchFamily="34" charset="0"/>
                <a:ea typeface="Cambria" pitchFamily="34" charset="-122"/>
                <a:cs typeface="Cambria" pitchFamily="34" charset="-120"/>
              </a:rPr>
              <a:t>Proposed Solution</a:t>
            </a:r>
            <a:endParaRPr lang="en-US" sz="3000" dirty="0"/>
          </a:p>
        </p:txBody>
      </p:sp>
      <p:sp>
        <p:nvSpPr>
          <p:cNvPr id="3" name="Text 1"/>
          <p:cNvSpPr/>
          <p:nvPr/>
        </p:nvSpPr>
        <p:spPr>
          <a:xfrm>
            <a:off x="548640" y="896112"/>
            <a:ext cx="10789920" cy="457200"/>
          </a:xfrm>
          <a:prstGeom prst="rect">
            <a:avLst/>
          </a:prstGeom>
          <a:noFill/>
          <a:ln/>
        </p:spPr>
        <p:txBody>
          <a:bodyPr wrap="square" rtlCol="0" anchor="ctr"/>
          <a:lstStyle/>
          <a:p>
            <a:pPr marL="0" indent="0">
              <a:buNone/>
            </a:pPr>
            <a:r>
              <a:rPr lang="en-US" sz="1350" i="1" dirty="0">
                <a:solidFill>
                  <a:srgbClr val="6B6B6B"/>
                </a:solidFill>
                <a:latin typeface="Calibri" pitchFamily="34" charset="0"/>
                <a:ea typeface="Calibri" pitchFamily="34" charset="-122"/>
                <a:cs typeface="Calibri" pitchFamily="34" charset="-120"/>
              </a:rPr>
              <a:t>A university-exclusive platform enabling students to exchange resources through multiple methods — not just buying and selling.</a:t>
            </a:r>
            <a:endParaRPr lang="en-US" sz="1350" dirty="0"/>
          </a:p>
        </p:txBody>
      </p:sp>
      <p:sp>
        <p:nvSpPr>
          <p:cNvPr id="4" name="Shape 2"/>
          <p:cNvSpPr/>
          <p:nvPr/>
        </p:nvSpPr>
        <p:spPr>
          <a:xfrm>
            <a:off x="548640" y="1600200"/>
            <a:ext cx="2084832" cy="1417320"/>
          </a:xfrm>
          <a:prstGeom prst="roundRect">
            <a:avLst>
              <a:gd name="adj" fmla="val 5161"/>
            </a:avLst>
          </a:prstGeom>
          <a:solidFill>
            <a:srgbClr val="F5F5F5"/>
          </a:solidFill>
          <a:ln/>
        </p:spPr>
      </p:sp>
      <p:pic>
        <p:nvPicPr>
          <p:cNvPr id="5" name="Image 0" descr="/home/claude/ppt/icons_buysell_2C5F2D.png"/>
          <p:cNvPicPr>
            <a:picLocks noChangeAspect="1"/>
          </p:cNvPicPr>
          <p:nvPr/>
        </p:nvPicPr>
        <p:blipFill>
          <a:blip r:embed="rId3"/>
          <a:stretch>
            <a:fillRect/>
          </a:stretch>
        </p:blipFill>
        <p:spPr>
          <a:xfrm>
            <a:off x="1298448" y="1764792"/>
            <a:ext cx="585216" cy="585216"/>
          </a:xfrm>
          <a:prstGeom prst="rect">
            <a:avLst/>
          </a:prstGeom>
        </p:spPr>
      </p:pic>
      <p:sp>
        <p:nvSpPr>
          <p:cNvPr id="6" name="Text 3"/>
          <p:cNvSpPr/>
          <p:nvPr/>
        </p:nvSpPr>
        <p:spPr>
          <a:xfrm>
            <a:off x="621792" y="2423160"/>
            <a:ext cx="1938528" cy="502920"/>
          </a:xfrm>
          <a:prstGeom prst="rect">
            <a:avLst/>
          </a:prstGeom>
          <a:noFill/>
          <a:ln/>
        </p:spPr>
        <p:txBody>
          <a:bodyPr wrap="square" rtlCol="0" anchor="t"/>
          <a:lstStyle/>
          <a:p>
            <a:pPr marL="0" indent="0" algn="ctr">
              <a:buNone/>
            </a:pPr>
            <a:r>
              <a:rPr lang="en-US" sz="1200" b="1" dirty="0">
                <a:solidFill>
                  <a:srgbClr val="2A2A2A"/>
                </a:solidFill>
                <a:latin typeface="Calibri" pitchFamily="34" charset="0"/>
                <a:ea typeface="Calibri" pitchFamily="34" charset="-122"/>
                <a:cs typeface="Calibri" pitchFamily="34" charset="-120"/>
              </a:rPr>
              <a:t>Buy &amp; Sell</a:t>
            </a:r>
            <a:endParaRPr lang="en-US" sz="1200" dirty="0"/>
          </a:p>
        </p:txBody>
      </p:sp>
      <p:sp>
        <p:nvSpPr>
          <p:cNvPr id="7" name="Shape 4"/>
          <p:cNvSpPr/>
          <p:nvPr/>
        </p:nvSpPr>
        <p:spPr>
          <a:xfrm>
            <a:off x="2770632" y="1600200"/>
            <a:ext cx="2084832" cy="1417320"/>
          </a:xfrm>
          <a:prstGeom prst="roundRect">
            <a:avLst>
              <a:gd name="adj" fmla="val 5161"/>
            </a:avLst>
          </a:prstGeom>
          <a:solidFill>
            <a:srgbClr val="F5F5F5"/>
          </a:solidFill>
          <a:ln/>
        </p:spPr>
      </p:sp>
      <p:pic>
        <p:nvPicPr>
          <p:cNvPr id="8" name="Image 1" descr="/home/claude/ppt/icons_rent_2C5F2D.png"/>
          <p:cNvPicPr>
            <a:picLocks noChangeAspect="1"/>
          </p:cNvPicPr>
          <p:nvPr/>
        </p:nvPicPr>
        <p:blipFill>
          <a:blip r:embed="rId4"/>
          <a:stretch>
            <a:fillRect/>
          </a:stretch>
        </p:blipFill>
        <p:spPr>
          <a:xfrm>
            <a:off x="3520440" y="1764792"/>
            <a:ext cx="585216" cy="585216"/>
          </a:xfrm>
          <a:prstGeom prst="rect">
            <a:avLst/>
          </a:prstGeom>
        </p:spPr>
      </p:pic>
      <p:sp>
        <p:nvSpPr>
          <p:cNvPr id="9" name="Text 5"/>
          <p:cNvSpPr/>
          <p:nvPr/>
        </p:nvSpPr>
        <p:spPr>
          <a:xfrm>
            <a:off x="2843784" y="2423160"/>
            <a:ext cx="1938528" cy="502920"/>
          </a:xfrm>
          <a:prstGeom prst="rect">
            <a:avLst/>
          </a:prstGeom>
          <a:noFill/>
          <a:ln/>
        </p:spPr>
        <p:txBody>
          <a:bodyPr wrap="square" rtlCol="0" anchor="t"/>
          <a:lstStyle/>
          <a:p>
            <a:pPr marL="0" indent="0" algn="ctr">
              <a:buNone/>
            </a:pPr>
            <a:r>
              <a:rPr lang="en-US" sz="1200" b="1" dirty="0">
                <a:solidFill>
                  <a:srgbClr val="2A2A2A"/>
                </a:solidFill>
                <a:latin typeface="Calibri" pitchFamily="34" charset="0"/>
                <a:ea typeface="Calibri" pitchFamily="34" charset="-122"/>
                <a:cs typeface="Calibri" pitchFamily="34" charset="-120"/>
              </a:rPr>
              <a:t>Rent Equipment</a:t>
            </a:r>
            <a:endParaRPr lang="en-US" sz="1200" dirty="0"/>
          </a:p>
        </p:txBody>
      </p:sp>
      <p:sp>
        <p:nvSpPr>
          <p:cNvPr id="10" name="Shape 6"/>
          <p:cNvSpPr/>
          <p:nvPr/>
        </p:nvSpPr>
        <p:spPr>
          <a:xfrm>
            <a:off x="4992624" y="1600200"/>
            <a:ext cx="2084832" cy="1417320"/>
          </a:xfrm>
          <a:prstGeom prst="roundRect">
            <a:avLst>
              <a:gd name="adj" fmla="val 5161"/>
            </a:avLst>
          </a:prstGeom>
          <a:solidFill>
            <a:srgbClr val="F5F5F5"/>
          </a:solidFill>
          <a:ln/>
        </p:spPr>
      </p:sp>
      <p:pic>
        <p:nvPicPr>
          <p:cNvPr id="11" name="Image 2" descr="/home/claude/ppt/icons_borrow_2C5F2D.png"/>
          <p:cNvPicPr>
            <a:picLocks noChangeAspect="1"/>
          </p:cNvPicPr>
          <p:nvPr/>
        </p:nvPicPr>
        <p:blipFill>
          <a:blip r:embed="rId5"/>
          <a:stretch>
            <a:fillRect/>
          </a:stretch>
        </p:blipFill>
        <p:spPr>
          <a:xfrm>
            <a:off x="5742432" y="1764792"/>
            <a:ext cx="585216" cy="585216"/>
          </a:xfrm>
          <a:prstGeom prst="rect">
            <a:avLst/>
          </a:prstGeom>
        </p:spPr>
      </p:pic>
      <p:sp>
        <p:nvSpPr>
          <p:cNvPr id="12" name="Text 7"/>
          <p:cNvSpPr/>
          <p:nvPr/>
        </p:nvSpPr>
        <p:spPr>
          <a:xfrm>
            <a:off x="5065776" y="2423160"/>
            <a:ext cx="1938528" cy="502920"/>
          </a:xfrm>
          <a:prstGeom prst="rect">
            <a:avLst/>
          </a:prstGeom>
          <a:noFill/>
          <a:ln/>
        </p:spPr>
        <p:txBody>
          <a:bodyPr wrap="square" rtlCol="0" anchor="t"/>
          <a:lstStyle/>
          <a:p>
            <a:pPr marL="0" indent="0" algn="ctr">
              <a:buNone/>
            </a:pPr>
            <a:r>
              <a:rPr lang="en-US" sz="1200" b="1" dirty="0">
                <a:solidFill>
                  <a:srgbClr val="2A2A2A"/>
                </a:solidFill>
                <a:latin typeface="Calibri" pitchFamily="34" charset="0"/>
                <a:ea typeface="Calibri" pitchFamily="34" charset="-122"/>
                <a:cs typeface="Calibri" pitchFamily="34" charset="-120"/>
              </a:rPr>
              <a:t>Borrow &amp; Lend</a:t>
            </a:r>
            <a:endParaRPr lang="en-US" sz="1200" dirty="0"/>
          </a:p>
        </p:txBody>
      </p:sp>
      <p:sp>
        <p:nvSpPr>
          <p:cNvPr id="13" name="Shape 8"/>
          <p:cNvSpPr/>
          <p:nvPr/>
        </p:nvSpPr>
        <p:spPr>
          <a:xfrm>
            <a:off x="7214616" y="1600200"/>
            <a:ext cx="2084832" cy="1417320"/>
          </a:xfrm>
          <a:prstGeom prst="roundRect">
            <a:avLst>
              <a:gd name="adj" fmla="val 5161"/>
            </a:avLst>
          </a:prstGeom>
          <a:solidFill>
            <a:srgbClr val="F5F5F5"/>
          </a:solidFill>
          <a:ln/>
        </p:spPr>
      </p:sp>
      <p:pic>
        <p:nvPicPr>
          <p:cNvPr id="14" name="Image 3" descr="/home/claude/ppt/icons_donate_2C5F2D.png"/>
          <p:cNvPicPr>
            <a:picLocks noChangeAspect="1"/>
          </p:cNvPicPr>
          <p:nvPr/>
        </p:nvPicPr>
        <p:blipFill>
          <a:blip r:embed="rId6"/>
          <a:stretch>
            <a:fillRect/>
          </a:stretch>
        </p:blipFill>
        <p:spPr>
          <a:xfrm>
            <a:off x="7964424" y="1764792"/>
            <a:ext cx="585216" cy="585216"/>
          </a:xfrm>
          <a:prstGeom prst="rect">
            <a:avLst/>
          </a:prstGeom>
        </p:spPr>
      </p:pic>
      <p:sp>
        <p:nvSpPr>
          <p:cNvPr id="15" name="Text 9"/>
          <p:cNvSpPr/>
          <p:nvPr/>
        </p:nvSpPr>
        <p:spPr>
          <a:xfrm>
            <a:off x="7287768" y="2423160"/>
            <a:ext cx="1938528" cy="502920"/>
          </a:xfrm>
          <a:prstGeom prst="rect">
            <a:avLst/>
          </a:prstGeom>
          <a:noFill/>
          <a:ln/>
        </p:spPr>
        <p:txBody>
          <a:bodyPr wrap="square" rtlCol="0" anchor="t"/>
          <a:lstStyle/>
          <a:p>
            <a:pPr marL="0" indent="0" algn="ctr">
              <a:buNone/>
            </a:pPr>
            <a:r>
              <a:rPr lang="en-US" sz="1200" b="1" dirty="0">
                <a:solidFill>
                  <a:srgbClr val="2A2A2A"/>
                </a:solidFill>
                <a:latin typeface="Calibri" pitchFamily="34" charset="0"/>
                <a:ea typeface="Calibri" pitchFamily="34" charset="-122"/>
                <a:cs typeface="Calibri" pitchFamily="34" charset="-120"/>
              </a:rPr>
              <a:t>Donate Resources</a:t>
            </a:r>
            <a:endParaRPr lang="en-US" sz="1200" dirty="0"/>
          </a:p>
        </p:txBody>
      </p:sp>
      <p:sp>
        <p:nvSpPr>
          <p:cNvPr id="16" name="Shape 10"/>
          <p:cNvSpPr/>
          <p:nvPr/>
        </p:nvSpPr>
        <p:spPr>
          <a:xfrm>
            <a:off x="9436608" y="1600200"/>
            <a:ext cx="2084832" cy="1417320"/>
          </a:xfrm>
          <a:prstGeom prst="roundRect">
            <a:avLst>
              <a:gd name="adj" fmla="val 5161"/>
            </a:avLst>
          </a:prstGeom>
          <a:solidFill>
            <a:srgbClr val="F5F5F5"/>
          </a:solidFill>
          <a:ln/>
        </p:spPr>
      </p:sp>
      <p:pic>
        <p:nvPicPr>
          <p:cNvPr id="17" name="Image 4" descr="/home/claude/ppt/icons_request_2C5F2D.png"/>
          <p:cNvPicPr>
            <a:picLocks noChangeAspect="1"/>
          </p:cNvPicPr>
          <p:nvPr/>
        </p:nvPicPr>
        <p:blipFill>
          <a:blip r:embed="rId7"/>
          <a:stretch>
            <a:fillRect/>
          </a:stretch>
        </p:blipFill>
        <p:spPr>
          <a:xfrm>
            <a:off x="10186416" y="1764792"/>
            <a:ext cx="585216" cy="585216"/>
          </a:xfrm>
          <a:prstGeom prst="rect">
            <a:avLst/>
          </a:prstGeom>
        </p:spPr>
      </p:pic>
      <p:sp>
        <p:nvSpPr>
          <p:cNvPr id="18" name="Text 11"/>
          <p:cNvSpPr/>
          <p:nvPr/>
        </p:nvSpPr>
        <p:spPr>
          <a:xfrm>
            <a:off x="9509760" y="2423160"/>
            <a:ext cx="1938528" cy="502920"/>
          </a:xfrm>
          <a:prstGeom prst="rect">
            <a:avLst/>
          </a:prstGeom>
          <a:noFill/>
          <a:ln/>
        </p:spPr>
        <p:txBody>
          <a:bodyPr wrap="square" rtlCol="0" anchor="t"/>
          <a:lstStyle/>
          <a:p>
            <a:pPr marL="0" indent="0" algn="ctr">
              <a:buNone/>
            </a:pPr>
            <a:r>
              <a:rPr lang="en-US" sz="1200" b="1" dirty="0">
                <a:solidFill>
                  <a:srgbClr val="2A2A2A"/>
                </a:solidFill>
                <a:latin typeface="Calibri" pitchFamily="34" charset="0"/>
                <a:ea typeface="Calibri" pitchFamily="34" charset="-122"/>
                <a:cs typeface="Calibri" pitchFamily="34" charset="-120"/>
              </a:rPr>
              <a:t>Request Items</a:t>
            </a:r>
            <a:endParaRPr lang="en-US" sz="1200" dirty="0"/>
          </a:p>
        </p:txBody>
      </p:sp>
      <p:sp>
        <p:nvSpPr>
          <p:cNvPr id="19" name="Shape 12"/>
          <p:cNvSpPr/>
          <p:nvPr/>
        </p:nvSpPr>
        <p:spPr>
          <a:xfrm>
            <a:off x="548640" y="3200400"/>
            <a:ext cx="2084832" cy="1417320"/>
          </a:xfrm>
          <a:prstGeom prst="roundRect">
            <a:avLst>
              <a:gd name="adj" fmla="val 5161"/>
            </a:avLst>
          </a:prstGeom>
          <a:solidFill>
            <a:srgbClr val="F5F5F5"/>
          </a:solidFill>
          <a:ln/>
        </p:spPr>
      </p:sp>
      <p:pic>
        <p:nvPicPr>
          <p:cNvPr id="20" name="Image 5" descr="/home/claude/ppt/icons_verify_2C5F2D.png"/>
          <p:cNvPicPr>
            <a:picLocks noChangeAspect="1"/>
          </p:cNvPicPr>
          <p:nvPr/>
        </p:nvPicPr>
        <p:blipFill>
          <a:blip r:embed="rId8"/>
          <a:stretch>
            <a:fillRect/>
          </a:stretch>
        </p:blipFill>
        <p:spPr>
          <a:xfrm>
            <a:off x="1298448" y="3364992"/>
            <a:ext cx="585216" cy="585216"/>
          </a:xfrm>
          <a:prstGeom prst="rect">
            <a:avLst/>
          </a:prstGeom>
        </p:spPr>
      </p:pic>
      <p:sp>
        <p:nvSpPr>
          <p:cNvPr id="21" name="Text 13"/>
          <p:cNvSpPr/>
          <p:nvPr/>
        </p:nvSpPr>
        <p:spPr>
          <a:xfrm>
            <a:off x="621792" y="4023360"/>
            <a:ext cx="1938528" cy="502920"/>
          </a:xfrm>
          <a:prstGeom prst="rect">
            <a:avLst/>
          </a:prstGeom>
          <a:noFill/>
          <a:ln/>
        </p:spPr>
        <p:txBody>
          <a:bodyPr wrap="square" rtlCol="0" anchor="t"/>
          <a:lstStyle/>
          <a:p>
            <a:pPr marL="0" indent="0" algn="ctr">
              <a:buNone/>
            </a:pPr>
            <a:r>
              <a:rPr lang="en-US" sz="1200" b="1" dirty="0">
                <a:solidFill>
                  <a:srgbClr val="2A2A2A"/>
                </a:solidFill>
                <a:latin typeface="Calibri" pitchFamily="34" charset="0"/>
                <a:ea typeface="Calibri" pitchFamily="34" charset="-122"/>
                <a:cs typeface="Calibri" pitchFamily="34" charset="-120"/>
              </a:rPr>
              <a:t>Student Verification</a:t>
            </a:r>
            <a:endParaRPr lang="en-US" sz="1200" dirty="0"/>
          </a:p>
        </p:txBody>
      </p:sp>
      <p:sp>
        <p:nvSpPr>
          <p:cNvPr id="22" name="Shape 14"/>
          <p:cNvSpPr/>
          <p:nvPr/>
        </p:nvSpPr>
        <p:spPr>
          <a:xfrm>
            <a:off x="2770632" y="3200400"/>
            <a:ext cx="2084832" cy="1417320"/>
          </a:xfrm>
          <a:prstGeom prst="roundRect">
            <a:avLst>
              <a:gd name="adj" fmla="val 5161"/>
            </a:avLst>
          </a:prstGeom>
          <a:solidFill>
            <a:srgbClr val="F5F5F5"/>
          </a:solidFill>
          <a:ln/>
        </p:spPr>
      </p:sp>
      <p:pic>
        <p:nvPicPr>
          <p:cNvPr id="23" name="Image 6" descr="/home/claude/ppt/icons_chat_2C5F2D.png"/>
          <p:cNvPicPr>
            <a:picLocks noChangeAspect="1"/>
          </p:cNvPicPr>
          <p:nvPr/>
        </p:nvPicPr>
        <p:blipFill>
          <a:blip r:embed="rId9"/>
          <a:stretch>
            <a:fillRect/>
          </a:stretch>
        </p:blipFill>
        <p:spPr>
          <a:xfrm>
            <a:off x="3520440" y="3364992"/>
            <a:ext cx="585216" cy="585216"/>
          </a:xfrm>
          <a:prstGeom prst="rect">
            <a:avLst/>
          </a:prstGeom>
        </p:spPr>
      </p:pic>
      <p:sp>
        <p:nvSpPr>
          <p:cNvPr id="24" name="Text 15"/>
          <p:cNvSpPr/>
          <p:nvPr/>
        </p:nvSpPr>
        <p:spPr>
          <a:xfrm>
            <a:off x="2843784" y="4023360"/>
            <a:ext cx="1938528" cy="502920"/>
          </a:xfrm>
          <a:prstGeom prst="rect">
            <a:avLst/>
          </a:prstGeom>
          <a:noFill/>
          <a:ln/>
        </p:spPr>
        <p:txBody>
          <a:bodyPr wrap="square" rtlCol="0" anchor="t"/>
          <a:lstStyle/>
          <a:p>
            <a:pPr marL="0" indent="0" algn="ctr">
              <a:buNone/>
            </a:pPr>
            <a:r>
              <a:rPr lang="en-US" sz="1200" b="1" dirty="0">
                <a:solidFill>
                  <a:srgbClr val="2A2A2A"/>
                </a:solidFill>
                <a:latin typeface="Calibri" pitchFamily="34" charset="0"/>
                <a:ea typeface="Calibri" pitchFamily="34" charset="-122"/>
                <a:cs typeface="Calibri" pitchFamily="34" charset="-120"/>
              </a:rPr>
              <a:t>In-App Chat</a:t>
            </a:r>
            <a:endParaRPr lang="en-US" sz="1200" dirty="0"/>
          </a:p>
        </p:txBody>
      </p:sp>
      <p:sp>
        <p:nvSpPr>
          <p:cNvPr id="25" name="Shape 16"/>
          <p:cNvSpPr/>
          <p:nvPr/>
        </p:nvSpPr>
        <p:spPr>
          <a:xfrm>
            <a:off x="4992624" y="3200400"/>
            <a:ext cx="2084832" cy="1417320"/>
          </a:xfrm>
          <a:prstGeom prst="roundRect">
            <a:avLst>
              <a:gd name="adj" fmla="val 5161"/>
            </a:avLst>
          </a:prstGeom>
          <a:solidFill>
            <a:srgbClr val="F5F5F5"/>
          </a:solidFill>
          <a:ln/>
        </p:spPr>
      </p:sp>
      <p:pic>
        <p:nvPicPr>
          <p:cNvPr id="26" name="Image 7" descr="/home/claude/ppt/icons_wishlist_2C5F2D.png"/>
          <p:cNvPicPr>
            <a:picLocks noChangeAspect="1"/>
          </p:cNvPicPr>
          <p:nvPr/>
        </p:nvPicPr>
        <p:blipFill>
          <a:blip r:embed="rId10"/>
          <a:stretch>
            <a:fillRect/>
          </a:stretch>
        </p:blipFill>
        <p:spPr>
          <a:xfrm>
            <a:off x="5742432" y="3364992"/>
            <a:ext cx="585216" cy="585216"/>
          </a:xfrm>
          <a:prstGeom prst="rect">
            <a:avLst/>
          </a:prstGeom>
        </p:spPr>
      </p:pic>
      <p:sp>
        <p:nvSpPr>
          <p:cNvPr id="27" name="Text 17"/>
          <p:cNvSpPr/>
          <p:nvPr/>
        </p:nvSpPr>
        <p:spPr>
          <a:xfrm>
            <a:off x="5065776" y="4023360"/>
            <a:ext cx="1938528" cy="502920"/>
          </a:xfrm>
          <a:prstGeom prst="rect">
            <a:avLst/>
          </a:prstGeom>
          <a:noFill/>
          <a:ln/>
        </p:spPr>
        <p:txBody>
          <a:bodyPr wrap="square" rtlCol="0" anchor="t"/>
          <a:lstStyle/>
          <a:p>
            <a:pPr marL="0" indent="0" algn="ctr">
              <a:buNone/>
            </a:pPr>
            <a:r>
              <a:rPr lang="en-US" sz="1200" b="1" dirty="0">
                <a:solidFill>
                  <a:srgbClr val="2A2A2A"/>
                </a:solidFill>
                <a:latin typeface="Calibri" pitchFamily="34" charset="0"/>
                <a:ea typeface="Calibri" pitchFamily="34" charset="-122"/>
                <a:cs typeface="Calibri" pitchFamily="34" charset="-120"/>
              </a:rPr>
              <a:t>Wishlist &amp; Alerts</a:t>
            </a:r>
            <a:endParaRPr lang="en-US" sz="1200" dirty="0"/>
          </a:p>
        </p:txBody>
      </p:sp>
      <p:sp>
        <p:nvSpPr>
          <p:cNvPr id="28" name="Shape 18"/>
          <p:cNvSpPr/>
          <p:nvPr/>
        </p:nvSpPr>
        <p:spPr>
          <a:xfrm>
            <a:off x="7214616" y="3200400"/>
            <a:ext cx="2084832" cy="1417320"/>
          </a:xfrm>
          <a:prstGeom prst="roundRect">
            <a:avLst>
              <a:gd name="adj" fmla="val 5161"/>
            </a:avLst>
          </a:prstGeom>
          <a:solidFill>
            <a:srgbClr val="F5F5F5"/>
          </a:solidFill>
          <a:ln/>
        </p:spPr>
      </p:sp>
      <p:pic>
        <p:nvPicPr>
          <p:cNvPr id="29" name="Image 8" descr="/home/claude/ppt/icons_pickup_2C5F2D.png"/>
          <p:cNvPicPr>
            <a:picLocks noChangeAspect="1"/>
          </p:cNvPicPr>
          <p:nvPr/>
        </p:nvPicPr>
        <p:blipFill>
          <a:blip r:embed="rId11"/>
          <a:stretch>
            <a:fillRect/>
          </a:stretch>
        </p:blipFill>
        <p:spPr>
          <a:xfrm>
            <a:off x="7964424" y="3364992"/>
            <a:ext cx="585216" cy="585216"/>
          </a:xfrm>
          <a:prstGeom prst="rect">
            <a:avLst/>
          </a:prstGeom>
        </p:spPr>
      </p:pic>
      <p:sp>
        <p:nvSpPr>
          <p:cNvPr id="30" name="Text 19"/>
          <p:cNvSpPr/>
          <p:nvPr/>
        </p:nvSpPr>
        <p:spPr>
          <a:xfrm>
            <a:off x="7287768" y="4023360"/>
            <a:ext cx="1938528" cy="502920"/>
          </a:xfrm>
          <a:prstGeom prst="rect">
            <a:avLst/>
          </a:prstGeom>
          <a:noFill/>
          <a:ln/>
        </p:spPr>
        <p:txBody>
          <a:bodyPr wrap="square" rtlCol="0" anchor="t"/>
          <a:lstStyle/>
          <a:p>
            <a:pPr marL="0" indent="0" algn="ctr">
              <a:buNone/>
            </a:pPr>
            <a:r>
              <a:rPr lang="en-US" sz="1200" b="1" dirty="0">
                <a:solidFill>
                  <a:srgbClr val="2A2A2A"/>
                </a:solidFill>
                <a:latin typeface="Calibri" pitchFamily="34" charset="0"/>
                <a:ea typeface="Calibri" pitchFamily="34" charset="-122"/>
                <a:cs typeface="Calibri" pitchFamily="34" charset="-120"/>
              </a:rPr>
              <a:t>Campus Pickup</a:t>
            </a:r>
            <a:endParaRPr lang="en-US" sz="1200" dirty="0"/>
          </a:p>
        </p:txBody>
      </p:sp>
      <p:sp>
        <p:nvSpPr>
          <p:cNvPr id="31" name="Shape 20"/>
          <p:cNvSpPr/>
          <p:nvPr/>
        </p:nvSpPr>
        <p:spPr>
          <a:xfrm>
            <a:off x="9436608" y="3200400"/>
            <a:ext cx="2084832" cy="1417320"/>
          </a:xfrm>
          <a:prstGeom prst="roundRect">
            <a:avLst>
              <a:gd name="adj" fmla="val 5161"/>
            </a:avLst>
          </a:prstGeom>
          <a:solidFill>
            <a:srgbClr val="F5F5F5"/>
          </a:solidFill>
          <a:ln/>
        </p:spPr>
      </p:sp>
      <p:pic>
        <p:nvPicPr>
          <p:cNvPr id="32" name="Image 9" descr="/home/claude/ppt/icons_rating_2C5F2D.png"/>
          <p:cNvPicPr>
            <a:picLocks noChangeAspect="1"/>
          </p:cNvPicPr>
          <p:nvPr/>
        </p:nvPicPr>
        <p:blipFill>
          <a:blip r:embed="rId12"/>
          <a:stretch>
            <a:fillRect/>
          </a:stretch>
        </p:blipFill>
        <p:spPr>
          <a:xfrm>
            <a:off x="10186416" y="3364992"/>
            <a:ext cx="585216" cy="585216"/>
          </a:xfrm>
          <a:prstGeom prst="rect">
            <a:avLst/>
          </a:prstGeom>
        </p:spPr>
      </p:pic>
      <p:sp>
        <p:nvSpPr>
          <p:cNvPr id="33" name="Text 21"/>
          <p:cNvSpPr/>
          <p:nvPr/>
        </p:nvSpPr>
        <p:spPr>
          <a:xfrm>
            <a:off x="9509760" y="4023360"/>
            <a:ext cx="1938528" cy="502920"/>
          </a:xfrm>
          <a:prstGeom prst="rect">
            <a:avLst/>
          </a:prstGeom>
          <a:noFill/>
          <a:ln/>
        </p:spPr>
        <p:txBody>
          <a:bodyPr wrap="square" rtlCol="0" anchor="t"/>
          <a:lstStyle/>
          <a:p>
            <a:pPr marL="0" indent="0" algn="ctr">
              <a:buNone/>
            </a:pPr>
            <a:r>
              <a:rPr lang="en-US" sz="1200" b="1" dirty="0">
                <a:solidFill>
                  <a:srgbClr val="2A2A2A"/>
                </a:solidFill>
                <a:latin typeface="Calibri" pitchFamily="34" charset="0"/>
                <a:ea typeface="Calibri" pitchFamily="34" charset="-122"/>
                <a:cs typeface="Calibri" pitchFamily="34" charset="-120"/>
              </a:rPr>
              <a:t>Rating &amp; Reputation</a:t>
            </a:r>
            <a:endParaRPr lang="en-US" sz="1200" dirty="0"/>
          </a:p>
        </p:txBody>
      </p:sp>
      <p:sp>
        <p:nvSpPr>
          <p:cNvPr id="34" name="Shape 22"/>
          <p:cNvSpPr/>
          <p:nvPr/>
        </p:nvSpPr>
        <p:spPr>
          <a:xfrm>
            <a:off x="548640" y="5257800"/>
            <a:ext cx="11091672" cy="1051560"/>
          </a:xfrm>
          <a:prstGeom prst="roundRect">
            <a:avLst>
              <a:gd name="adj" fmla="val 6957"/>
            </a:avLst>
          </a:prstGeom>
          <a:solidFill>
            <a:srgbClr val="2C5F2D"/>
          </a:solidFill>
          <a:ln/>
        </p:spPr>
      </p:sp>
      <p:sp>
        <p:nvSpPr>
          <p:cNvPr id="35" name="Text 23"/>
          <p:cNvSpPr/>
          <p:nvPr/>
        </p:nvSpPr>
        <p:spPr>
          <a:xfrm>
            <a:off x="548640" y="5257800"/>
            <a:ext cx="2772918" cy="10515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Reduce student expenses</a:t>
            </a:r>
            <a:endParaRPr lang="en-US" sz="1300" dirty="0"/>
          </a:p>
        </p:txBody>
      </p:sp>
      <p:sp>
        <p:nvSpPr>
          <p:cNvPr id="36" name="Text 24"/>
          <p:cNvSpPr/>
          <p:nvPr/>
        </p:nvSpPr>
        <p:spPr>
          <a:xfrm>
            <a:off x="3321558" y="5257800"/>
            <a:ext cx="2772918" cy="10515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Increase resource reuse</a:t>
            </a:r>
            <a:endParaRPr lang="en-US" sz="1300" dirty="0"/>
          </a:p>
        </p:txBody>
      </p:sp>
      <p:sp>
        <p:nvSpPr>
          <p:cNvPr id="37" name="Text 25"/>
          <p:cNvSpPr/>
          <p:nvPr/>
        </p:nvSpPr>
        <p:spPr>
          <a:xfrm>
            <a:off x="6094476" y="5257800"/>
            <a:ext cx="2772918" cy="10515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Promote sustainability</a:t>
            </a:r>
            <a:endParaRPr lang="en-US" sz="1300" dirty="0"/>
          </a:p>
        </p:txBody>
      </p:sp>
      <p:sp>
        <p:nvSpPr>
          <p:cNvPr id="38" name="Text 26"/>
          <p:cNvSpPr/>
          <p:nvPr/>
        </p:nvSpPr>
        <p:spPr>
          <a:xfrm>
            <a:off x="8867394" y="5257800"/>
            <a:ext cx="2772918" cy="10515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Simplify exchange</a:t>
            </a:r>
            <a:endParaRPr lang="en-US" sz="1300" dirty="0"/>
          </a:p>
        </p:txBody>
      </p:sp>
      <p:sp>
        <p:nvSpPr>
          <p:cNvPr id="39" name="Text 27"/>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6B6B"/>
                </a:solidFill>
                <a:latin typeface="Calibri" pitchFamily="34" charset="0"/>
                <a:ea typeface="Calibri" pitchFamily="34" charset="-122"/>
                <a:cs typeface="Calibri" pitchFamily="34" charset="-120"/>
              </a:rPr>
              <a:t>CampusCycle — Project Overview</a:t>
            </a:r>
            <a:endParaRPr lang="en-US" sz="1000" dirty="0"/>
          </a:p>
        </p:txBody>
      </p:sp>
      <p:sp>
        <p:nvSpPr>
          <p:cNvPr id="40" name="Text 28"/>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548640"/>
          </a:xfrm>
          <a:prstGeom prst="rect">
            <a:avLst/>
          </a:prstGeom>
          <a:noFill/>
          <a:ln/>
        </p:spPr>
        <p:txBody>
          <a:bodyPr wrap="square" rtlCol="0" anchor="ctr"/>
          <a:lstStyle/>
          <a:p>
            <a:pPr marL="0" indent="0">
              <a:buNone/>
            </a:pPr>
            <a:r>
              <a:rPr lang="en-US" sz="3000" b="1" dirty="0">
                <a:solidFill>
                  <a:srgbClr val="2C5F2D"/>
                </a:solidFill>
                <a:latin typeface="Cambria" pitchFamily="34" charset="0"/>
                <a:ea typeface="Cambria" pitchFamily="34" charset="-122"/>
                <a:cs typeface="Cambria" pitchFamily="34" charset="-120"/>
              </a:rPr>
              <a:t>Key Stakeholders</a:t>
            </a:r>
            <a:endParaRPr lang="en-US" sz="3000" dirty="0"/>
          </a:p>
        </p:txBody>
      </p:sp>
      <p:sp>
        <p:nvSpPr>
          <p:cNvPr id="3" name="Shape 1"/>
          <p:cNvSpPr/>
          <p:nvPr/>
        </p:nvSpPr>
        <p:spPr>
          <a:xfrm>
            <a:off x="548640" y="1097280"/>
            <a:ext cx="3520440" cy="1600200"/>
          </a:xfrm>
          <a:prstGeom prst="roundRect">
            <a:avLst>
              <a:gd name="adj" fmla="val 4571"/>
            </a:avLst>
          </a:prstGeom>
          <a:solidFill>
            <a:srgbClr val="F5F5F5"/>
          </a:solidFill>
          <a:ln/>
        </p:spPr>
      </p:sp>
      <p:sp>
        <p:nvSpPr>
          <p:cNvPr id="4" name="Shape 2"/>
          <p:cNvSpPr/>
          <p:nvPr/>
        </p:nvSpPr>
        <p:spPr>
          <a:xfrm>
            <a:off x="731520" y="1280160"/>
            <a:ext cx="502920" cy="502920"/>
          </a:xfrm>
          <a:prstGeom prst="ellipse">
            <a:avLst/>
          </a:prstGeom>
          <a:solidFill>
            <a:srgbClr val="2C5F2D"/>
          </a:solidFill>
          <a:ln/>
        </p:spPr>
      </p:sp>
      <p:pic>
        <p:nvPicPr>
          <p:cNvPr id="5" name="Image 0" descr="/home/claude/ppt/icons_student_FFFFFF.png"/>
          <p:cNvPicPr>
            <a:picLocks noChangeAspect="1"/>
          </p:cNvPicPr>
          <p:nvPr/>
        </p:nvPicPr>
        <p:blipFill>
          <a:blip r:embed="rId3"/>
          <a:stretch>
            <a:fillRect/>
          </a:stretch>
        </p:blipFill>
        <p:spPr>
          <a:xfrm>
            <a:off x="841248" y="1389888"/>
            <a:ext cx="292608" cy="292608"/>
          </a:xfrm>
          <a:prstGeom prst="rect">
            <a:avLst/>
          </a:prstGeom>
        </p:spPr>
      </p:pic>
      <p:sp>
        <p:nvSpPr>
          <p:cNvPr id="6" name="Text 3"/>
          <p:cNvSpPr/>
          <p:nvPr/>
        </p:nvSpPr>
        <p:spPr>
          <a:xfrm>
            <a:off x="1371600" y="1261872"/>
            <a:ext cx="2560320" cy="548640"/>
          </a:xfrm>
          <a:prstGeom prst="rect">
            <a:avLst/>
          </a:prstGeom>
          <a:noFill/>
          <a:ln/>
        </p:spPr>
        <p:txBody>
          <a:bodyPr wrap="square" rtlCol="0" anchor="t"/>
          <a:lstStyle/>
          <a:p>
            <a:pPr marL="0" indent="0">
              <a:buNone/>
            </a:pPr>
            <a:r>
              <a:rPr lang="en-US" sz="1300" b="1" dirty="0">
                <a:solidFill>
                  <a:srgbClr val="2A2A2A"/>
                </a:solidFill>
                <a:latin typeface="Calibri" pitchFamily="34" charset="0"/>
                <a:ea typeface="Calibri" pitchFamily="34" charset="-122"/>
                <a:cs typeface="Calibri" pitchFamily="34" charset="-120"/>
              </a:rPr>
              <a:t>Students (Buyers)</a:t>
            </a:r>
            <a:endParaRPr lang="en-US" sz="1300" dirty="0"/>
          </a:p>
        </p:txBody>
      </p:sp>
      <p:sp>
        <p:nvSpPr>
          <p:cNvPr id="7" name="Text 4"/>
          <p:cNvSpPr/>
          <p:nvPr/>
        </p:nvSpPr>
        <p:spPr>
          <a:xfrm>
            <a:off x="731520" y="1965960"/>
            <a:ext cx="3154680" cy="640080"/>
          </a:xfrm>
          <a:prstGeom prst="rect">
            <a:avLst/>
          </a:prstGeom>
          <a:noFill/>
          <a:ln/>
        </p:spPr>
        <p:txBody>
          <a:bodyPr wrap="square" rtlCol="0" anchor="t"/>
          <a:lstStyle/>
          <a:p>
            <a:pPr marL="0" indent="0">
              <a:buNone/>
            </a:pPr>
            <a:r>
              <a:rPr lang="en-US" sz="1150" i="1" dirty="0">
                <a:solidFill>
                  <a:srgbClr val="6B6B6B"/>
                </a:solidFill>
                <a:latin typeface="Calibri" pitchFamily="34" charset="0"/>
                <a:ea typeface="Calibri" pitchFamily="34" charset="-122"/>
                <a:cs typeface="Calibri" pitchFamily="34" charset="-120"/>
              </a:rPr>
              <a:t>Easy discovery &amp; trusted exchange</a:t>
            </a:r>
            <a:endParaRPr lang="en-US" sz="1150" dirty="0"/>
          </a:p>
        </p:txBody>
      </p:sp>
      <p:sp>
        <p:nvSpPr>
          <p:cNvPr id="8" name="Shape 5"/>
          <p:cNvSpPr/>
          <p:nvPr/>
        </p:nvSpPr>
        <p:spPr>
          <a:xfrm>
            <a:off x="4251960" y="1097280"/>
            <a:ext cx="3520440" cy="1600200"/>
          </a:xfrm>
          <a:prstGeom prst="roundRect">
            <a:avLst>
              <a:gd name="adj" fmla="val 4571"/>
            </a:avLst>
          </a:prstGeom>
          <a:solidFill>
            <a:srgbClr val="F5F5F5"/>
          </a:solidFill>
          <a:ln/>
        </p:spPr>
      </p:sp>
      <p:sp>
        <p:nvSpPr>
          <p:cNvPr id="9" name="Shape 6"/>
          <p:cNvSpPr/>
          <p:nvPr/>
        </p:nvSpPr>
        <p:spPr>
          <a:xfrm>
            <a:off x="4434840" y="1280160"/>
            <a:ext cx="502920" cy="502920"/>
          </a:xfrm>
          <a:prstGeom prst="ellipse">
            <a:avLst/>
          </a:prstGeom>
          <a:solidFill>
            <a:srgbClr val="2C5F2D"/>
          </a:solidFill>
          <a:ln/>
        </p:spPr>
      </p:sp>
      <p:pic>
        <p:nvPicPr>
          <p:cNvPr id="10" name="Image 1" descr="/home/claude/ppt/icons_money_FFFFFF.png"/>
          <p:cNvPicPr>
            <a:picLocks noChangeAspect="1"/>
          </p:cNvPicPr>
          <p:nvPr/>
        </p:nvPicPr>
        <p:blipFill>
          <a:blip r:embed="rId4"/>
          <a:stretch>
            <a:fillRect/>
          </a:stretch>
        </p:blipFill>
        <p:spPr>
          <a:xfrm>
            <a:off x="4544568" y="1389888"/>
            <a:ext cx="292608" cy="292608"/>
          </a:xfrm>
          <a:prstGeom prst="rect">
            <a:avLst/>
          </a:prstGeom>
        </p:spPr>
      </p:pic>
      <p:sp>
        <p:nvSpPr>
          <p:cNvPr id="11" name="Text 7"/>
          <p:cNvSpPr/>
          <p:nvPr/>
        </p:nvSpPr>
        <p:spPr>
          <a:xfrm>
            <a:off x="5074920" y="1261872"/>
            <a:ext cx="2560320" cy="548640"/>
          </a:xfrm>
          <a:prstGeom prst="rect">
            <a:avLst/>
          </a:prstGeom>
          <a:noFill/>
          <a:ln/>
        </p:spPr>
        <p:txBody>
          <a:bodyPr wrap="square" rtlCol="0" anchor="t"/>
          <a:lstStyle/>
          <a:p>
            <a:pPr marL="0" indent="0">
              <a:buNone/>
            </a:pPr>
            <a:r>
              <a:rPr lang="en-US" sz="1300" b="1" dirty="0">
                <a:solidFill>
                  <a:srgbClr val="2A2A2A"/>
                </a:solidFill>
                <a:latin typeface="Calibri" pitchFamily="34" charset="0"/>
                <a:ea typeface="Calibri" pitchFamily="34" charset="-122"/>
                <a:cs typeface="Calibri" pitchFamily="34" charset="-120"/>
              </a:rPr>
              <a:t>Students (Sellers)</a:t>
            </a:r>
            <a:endParaRPr lang="en-US" sz="1300" dirty="0"/>
          </a:p>
        </p:txBody>
      </p:sp>
      <p:sp>
        <p:nvSpPr>
          <p:cNvPr id="12" name="Text 8"/>
          <p:cNvSpPr/>
          <p:nvPr/>
        </p:nvSpPr>
        <p:spPr>
          <a:xfrm>
            <a:off x="4434840" y="1965960"/>
            <a:ext cx="3154680" cy="640080"/>
          </a:xfrm>
          <a:prstGeom prst="rect">
            <a:avLst/>
          </a:prstGeom>
          <a:noFill/>
          <a:ln/>
        </p:spPr>
        <p:txBody>
          <a:bodyPr wrap="square" rtlCol="0" anchor="t"/>
          <a:lstStyle/>
          <a:p>
            <a:pPr marL="0" indent="0">
              <a:buNone/>
            </a:pPr>
            <a:r>
              <a:rPr lang="en-US" sz="1150" i="1" dirty="0">
                <a:solidFill>
                  <a:srgbClr val="6B6B6B"/>
                </a:solidFill>
                <a:latin typeface="Calibri" pitchFamily="34" charset="0"/>
                <a:ea typeface="Calibri" pitchFamily="34" charset="-122"/>
                <a:cs typeface="Calibri" pitchFamily="34" charset="-120"/>
              </a:rPr>
              <a:t>Reach genuine buyers quickly</a:t>
            </a:r>
            <a:endParaRPr lang="en-US" sz="1150" dirty="0"/>
          </a:p>
        </p:txBody>
      </p:sp>
      <p:sp>
        <p:nvSpPr>
          <p:cNvPr id="13" name="Shape 9"/>
          <p:cNvSpPr/>
          <p:nvPr/>
        </p:nvSpPr>
        <p:spPr>
          <a:xfrm>
            <a:off x="7955280" y="1097280"/>
            <a:ext cx="3520440" cy="1600200"/>
          </a:xfrm>
          <a:prstGeom prst="roundRect">
            <a:avLst>
              <a:gd name="adj" fmla="val 4571"/>
            </a:avLst>
          </a:prstGeom>
          <a:solidFill>
            <a:srgbClr val="F5F5F5"/>
          </a:solidFill>
          <a:ln/>
        </p:spPr>
      </p:sp>
      <p:sp>
        <p:nvSpPr>
          <p:cNvPr id="14" name="Shape 10"/>
          <p:cNvSpPr/>
          <p:nvPr/>
        </p:nvSpPr>
        <p:spPr>
          <a:xfrm>
            <a:off x="8138160" y="1280160"/>
            <a:ext cx="502920" cy="502920"/>
          </a:xfrm>
          <a:prstGeom prst="ellipse">
            <a:avLst/>
          </a:prstGeom>
          <a:solidFill>
            <a:srgbClr val="2C5F2D"/>
          </a:solidFill>
          <a:ln/>
        </p:spPr>
      </p:sp>
      <p:pic>
        <p:nvPicPr>
          <p:cNvPr id="15" name="Image 2" descr="/home/claude/ppt/icons_handshake_FFFFFF.png"/>
          <p:cNvPicPr>
            <a:picLocks noChangeAspect="1"/>
          </p:cNvPicPr>
          <p:nvPr/>
        </p:nvPicPr>
        <p:blipFill>
          <a:blip r:embed="rId5"/>
          <a:stretch>
            <a:fillRect/>
          </a:stretch>
        </p:blipFill>
        <p:spPr>
          <a:xfrm>
            <a:off x="8247888" y="1389888"/>
            <a:ext cx="292608" cy="292608"/>
          </a:xfrm>
          <a:prstGeom prst="rect">
            <a:avLst/>
          </a:prstGeom>
        </p:spPr>
      </p:pic>
      <p:sp>
        <p:nvSpPr>
          <p:cNvPr id="16" name="Text 11"/>
          <p:cNvSpPr/>
          <p:nvPr/>
        </p:nvSpPr>
        <p:spPr>
          <a:xfrm>
            <a:off x="8778240" y="1261872"/>
            <a:ext cx="2560320" cy="548640"/>
          </a:xfrm>
          <a:prstGeom prst="rect">
            <a:avLst/>
          </a:prstGeom>
          <a:noFill/>
          <a:ln/>
        </p:spPr>
        <p:txBody>
          <a:bodyPr wrap="square" rtlCol="0" anchor="t"/>
          <a:lstStyle/>
          <a:p>
            <a:pPr marL="0" indent="0">
              <a:buNone/>
            </a:pPr>
            <a:r>
              <a:rPr lang="en-US" sz="1300" b="1" dirty="0">
                <a:solidFill>
                  <a:srgbClr val="2A2A2A"/>
                </a:solidFill>
                <a:latin typeface="Calibri" pitchFamily="34" charset="0"/>
                <a:ea typeface="Calibri" pitchFamily="34" charset="-122"/>
                <a:cs typeface="Calibri" pitchFamily="34" charset="-120"/>
              </a:rPr>
              <a:t>Students (Borrowers)</a:t>
            </a:r>
            <a:endParaRPr lang="en-US" sz="1300" dirty="0"/>
          </a:p>
        </p:txBody>
      </p:sp>
      <p:sp>
        <p:nvSpPr>
          <p:cNvPr id="17" name="Text 12"/>
          <p:cNvSpPr/>
          <p:nvPr/>
        </p:nvSpPr>
        <p:spPr>
          <a:xfrm>
            <a:off x="8138160" y="1965960"/>
            <a:ext cx="3154680" cy="640080"/>
          </a:xfrm>
          <a:prstGeom prst="rect">
            <a:avLst/>
          </a:prstGeom>
          <a:noFill/>
          <a:ln/>
        </p:spPr>
        <p:txBody>
          <a:bodyPr wrap="square" rtlCol="0" anchor="t"/>
          <a:lstStyle/>
          <a:p>
            <a:pPr marL="0" indent="0">
              <a:buNone/>
            </a:pPr>
            <a:r>
              <a:rPr lang="en-US" sz="1150" i="1" dirty="0">
                <a:solidFill>
                  <a:srgbClr val="6B6B6B"/>
                </a:solidFill>
                <a:latin typeface="Calibri" pitchFamily="34" charset="0"/>
                <a:ea typeface="Calibri" pitchFamily="34" charset="-122"/>
                <a:cs typeface="Calibri" pitchFamily="34" charset="-120"/>
              </a:rPr>
              <a:t>Affordable short-term use</a:t>
            </a:r>
            <a:endParaRPr lang="en-US" sz="1150" dirty="0"/>
          </a:p>
        </p:txBody>
      </p:sp>
      <p:sp>
        <p:nvSpPr>
          <p:cNvPr id="18" name="Shape 13"/>
          <p:cNvSpPr/>
          <p:nvPr/>
        </p:nvSpPr>
        <p:spPr>
          <a:xfrm>
            <a:off x="548640" y="2880360"/>
            <a:ext cx="3520440" cy="1600200"/>
          </a:xfrm>
          <a:prstGeom prst="roundRect">
            <a:avLst>
              <a:gd name="adj" fmla="val 4571"/>
            </a:avLst>
          </a:prstGeom>
          <a:solidFill>
            <a:srgbClr val="F5F5F5"/>
          </a:solidFill>
          <a:ln/>
        </p:spPr>
      </p:sp>
      <p:sp>
        <p:nvSpPr>
          <p:cNvPr id="19" name="Shape 14"/>
          <p:cNvSpPr/>
          <p:nvPr/>
        </p:nvSpPr>
        <p:spPr>
          <a:xfrm>
            <a:off x="731520" y="3063240"/>
            <a:ext cx="502920" cy="502920"/>
          </a:xfrm>
          <a:prstGeom prst="ellipse">
            <a:avLst/>
          </a:prstGeom>
          <a:solidFill>
            <a:srgbClr val="2C5F2D"/>
          </a:solidFill>
          <a:ln/>
        </p:spPr>
      </p:sp>
      <p:pic>
        <p:nvPicPr>
          <p:cNvPr id="20" name="Image 3" descr="/home/claude/ppt/icons_donate_FFFFFF.png"/>
          <p:cNvPicPr>
            <a:picLocks noChangeAspect="1"/>
          </p:cNvPicPr>
          <p:nvPr/>
        </p:nvPicPr>
        <p:blipFill>
          <a:blip r:embed="rId6"/>
          <a:stretch>
            <a:fillRect/>
          </a:stretch>
        </p:blipFill>
        <p:spPr>
          <a:xfrm>
            <a:off x="841248" y="3172968"/>
            <a:ext cx="292608" cy="292608"/>
          </a:xfrm>
          <a:prstGeom prst="rect">
            <a:avLst/>
          </a:prstGeom>
        </p:spPr>
      </p:pic>
      <p:sp>
        <p:nvSpPr>
          <p:cNvPr id="21" name="Text 15"/>
          <p:cNvSpPr/>
          <p:nvPr/>
        </p:nvSpPr>
        <p:spPr>
          <a:xfrm>
            <a:off x="1371600" y="3044952"/>
            <a:ext cx="2560320" cy="548640"/>
          </a:xfrm>
          <a:prstGeom prst="rect">
            <a:avLst/>
          </a:prstGeom>
          <a:noFill/>
          <a:ln/>
        </p:spPr>
        <p:txBody>
          <a:bodyPr wrap="square" rtlCol="0" anchor="t"/>
          <a:lstStyle/>
          <a:p>
            <a:pPr marL="0" indent="0">
              <a:buNone/>
            </a:pPr>
            <a:r>
              <a:rPr lang="en-US" sz="1300" b="1" dirty="0">
                <a:solidFill>
                  <a:srgbClr val="2A2A2A"/>
                </a:solidFill>
                <a:latin typeface="Calibri" pitchFamily="34" charset="0"/>
                <a:ea typeface="Calibri" pitchFamily="34" charset="-122"/>
                <a:cs typeface="Calibri" pitchFamily="34" charset="-120"/>
              </a:rPr>
              <a:t>Students (Lenders/Donors)</a:t>
            </a:r>
            <a:endParaRPr lang="en-US" sz="1300" dirty="0"/>
          </a:p>
        </p:txBody>
      </p:sp>
      <p:sp>
        <p:nvSpPr>
          <p:cNvPr id="22" name="Text 16"/>
          <p:cNvSpPr/>
          <p:nvPr/>
        </p:nvSpPr>
        <p:spPr>
          <a:xfrm>
            <a:off x="731520" y="3749040"/>
            <a:ext cx="3154680" cy="640080"/>
          </a:xfrm>
          <a:prstGeom prst="rect">
            <a:avLst/>
          </a:prstGeom>
          <a:noFill/>
          <a:ln/>
        </p:spPr>
        <p:txBody>
          <a:bodyPr wrap="square" rtlCol="0" anchor="t"/>
          <a:lstStyle/>
          <a:p>
            <a:pPr marL="0" indent="0">
              <a:buNone/>
            </a:pPr>
            <a:r>
              <a:rPr lang="en-US" sz="1150" i="1" dirty="0">
                <a:solidFill>
                  <a:srgbClr val="6B6B6B"/>
                </a:solidFill>
                <a:latin typeface="Calibri" pitchFamily="34" charset="0"/>
                <a:ea typeface="Calibri" pitchFamily="34" charset="-122"/>
                <a:cs typeface="Calibri" pitchFamily="34" charset="-120"/>
              </a:rPr>
              <a:t>Simple sharing process</a:t>
            </a:r>
            <a:endParaRPr lang="en-US" sz="1150" dirty="0"/>
          </a:p>
        </p:txBody>
      </p:sp>
      <p:sp>
        <p:nvSpPr>
          <p:cNvPr id="23" name="Shape 17"/>
          <p:cNvSpPr/>
          <p:nvPr/>
        </p:nvSpPr>
        <p:spPr>
          <a:xfrm>
            <a:off x="4251960" y="2880360"/>
            <a:ext cx="3520440" cy="1600200"/>
          </a:xfrm>
          <a:prstGeom prst="roundRect">
            <a:avLst>
              <a:gd name="adj" fmla="val 4571"/>
            </a:avLst>
          </a:prstGeom>
          <a:solidFill>
            <a:srgbClr val="F5F5F5"/>
          </a:solidFill>
          <a:ln/>
        </p:spPr>
      </p:sp>
      <p:sp>
        <p:nvSpPr>
          <p:cNvPr id="24" name="Shape 18"/>
          <p:cNvSpPr/>
          <p:nvPr/>
        </p:nvSpPr>
        <p:spPr>
          <a:xfrm>
            <a:off x="4434840" y="3063240"/>
            <a:ext cx="502920" cy="502920"/>
          </a:xfrm>
          <a:prstGeom prst="ellipse">
            <a:avLst/>
          </a:prstGeom>
          <a:solidFill>
            <a:srgbClr val="2C5F2D"/>
          </a:solidFill>
          <a:ln/>
        </p:spPr>
      </p:sp>
      <p:pic>
        <p:nvPicPr>
          <p:cNvPr id="25" name="Image 4" descr="/home/claude/ppt/icons_admin_FFFFFF.png"/>
          <p:cNvPicPr>
            <a:picLocks noChangeAspect="1"/>
          </p:cNvPicPr>
          <p:nvPr/>
        </p:nvPicPr>
        <p:blipFill>
          <a:blip r:embed="rId7"/>
          <a:stretch>
            <a:fillRect/>
          </a:stretch>
        </p:blipFill>
        <p:spPr>
          <a:xfrm>
            <a:off x="4544568" y="3172968"/>
            <a:ext cx="292608" cy="292608"/>
          </a:xfrm>
          <a:prstGeom prst="rect">
            <a:avLst/>
          </a:prstGeom>
        </p:spPr>
      </p:pic>
      <p:sp>
        <p:nvSpPr>
          <p:cNvPr id="26" name="Text 19"/>
          <p:cNvSpPr/>
          <p:nvPr/>
        </p:nvSpPr>
        <p:spPr>
          <a:xfrm>
            <a:off x="5074920" y="3044952"/>
            <a:ext cx="2560320" cy="548640"/>
          </a:xfrm>
          <a:prstGeom prst="rect">
            <a:avLst/>
          </a:prstGeom>
          <a:noFill/>
          <a:ln/>
        </p:spPr>
        <p:txBody>
          <a:bodyPr wrap="square" rtlCol="0" anchor="t"/>
          <a:lstStyle/>
          <a:p>
            <a:pPr marL="0" indent="0">
              <a:buNone/>
            </a:pPr>
            <a:r>
              <a:rPr lang="en-US" sz="1300" b="1" dirty="0">
                <a:solidFill>
                  <a:srgbClr val="2A2A2A"/>
                </a:solidFill>
                <a:latin typeface="Calibri" pitchFamily="34" charset="0"/>
                <a:ea typeface="Calibri" pitchFamily="34" charset="-122"/>
                <a:cs typeface="Calibri" pitchFamily="34" charset="-120"/>
              </a:rPr>
              <a:t>University Administration</a:t>
            </a:r>
            <a:endParaRPr lang="en-US" sz="1300" dirty="0"/>
          </a:p>
        </p:txBody>
      </p:sp>
      <p:sp>
        <p:nvSpPr>
          <p:cNvPr id="27" name="Text 20"/>
          <p:cNvSpPr/>
          <p:nvPr/>
        </p:nvSpPr>
        <p:spPr>
          <a:xfrm>
            <a:off x="4434840" y="3749040"/>
            <a:ext cx="3154680" cy="640080"/>
          </a:xfrm>
          <a:prstGeom prst="rect">
            <a:avLst/>
          </a:prstGeom>
          <a:noFill/>
          <a:ln/>
        </p:spPr>
        <p:txBody>
          <a:bodyPr wrap="square" rtlCol="0" anchor="t"/>
          <a:lstStyle/>
          <a:p>
            <a:pPr marL="0" indent="0">
              <a:buNone/>
            </a:pPr>
            <a:r>
              <a:rPr lang="en-US" sz="1150" i="1" dirty="0">
                <a:solidFill>
                  <a:srgbClr val="6B6B6B"/>
                </a:solidFill>
                <a:latin typeface="Calibri" pitchFamily="34" charset="0"/>
                <a:ea typeface="Calibri" pitchFamily="34" charset="-122"/>
                <a:cs typeface="Calibri" pitchFamily="34" charset="-120"/>
              </a:rPr>
              <a:t>Organized resource circulation</a:t>
            </a:r>
            <a:endParaRPr lang="en-US" sz="1150" dirty="0"/>
          </a:p>
        </p:txBody>
      </p:sp>
      <p:sp>
        <p:nvSpPr>
          <p:cNvPr id="28" name="Shape 21"/>
          <p:cNvSpPr/>
          <p:nvPr/>
        </p:nvSpPr>
        <p:spPr>
          <a:xfrm>
            <a:off x="7955280" y="2880360"/>
            <a:ext cx="3520440" cy="1600200"/>
          </a:xfrm>
          <a:prstGeom prst="roundRect">
            <a:avLst>
              <a:gd name="adj" fmla="val 4571"/>
            </a:avLst>
          </a:prstGeom>
          <a:solidFill>
            <a:srgbClr val="F5F5F5"/>
          </a:solidFill>
          <a:ln/>
        </p:spPr>
      </p:sp>
      <p:sp>
        <p:nvSpPr>
          <p:cNvPr id="29" name="Shape 22"/>
          <p:cNvSpPr/>
          <p:nvPr/>
        </p:nvSpPr>
        <p:spPr>
          <a:xfrm>
            <a:off x="8138160" y="3063240"/>
            <a:ext cx="502920" cy="502920"/>
          </a:xfrm>
          <a:prstGeom prst="ellipse">
            <a:avLst/>
          </a:prstGeom>
          <a:solidFill>
            <a:srgbClr val="2C5F2D"/>
          </a:solidFill>
          <a:ln/>
        </p:spPr>
      </p:sp>
      <p:pic>
        <p:nvPicPr>
          <p:cNvPr id="30" name="Image 5" descr="/home/claude/ppt/icons_store_FFFFFF.png"/>
          <p:cNvPicPr>
            <a:picLocks noChangeAspect="1"/>
          </p:cNvPicPr>
          <p:nvPr/>
        </p:nvPicPr>
        <p:blipFill>
          <a:blip r:embed="rId8"/>
          <a:stretch>
            <a:fillRect/>
          </a:stretch>
        </p:blipFill>
        <p:spPr>
          <a:xfrm>
            <a:off x="8247888" y="3172968"/>
            <a:ext cx="292608" cy="292608"/>
          </a:xfrm>
          <a:prstGeom prst="rect">
            <a:avLst/>
          </a:prstGeom>
        </p:spPr>
      </p:pic>
      <p:sp>
        <p:nvSpPr>
          <p:cNvPr id="31" name="Text 23"/>
          <p:cNvSpPr/>
          <p:nvPr/>
        </p:nvSpPr>
        <p:spPr>
          <a:xfrm>
            <a:off x="8778240" y="3044952"/>
            <a:ext cx="2560320" cy="548640"/>
          </a:xfrm>
          <a:prstGeom prst="rect">
            <a:avLst/>
          </a:prstGeom>
          <a:noFill/>
          <a:ln/>
        </p:spPr>
        <p:txBody>
          <a:bodyPr wrap="square" rtlCol="0" anchor="t"/>
          <a:lstStyle/>
          <a:p>
            <a:pPr marL="0" indent="0">
              <a:buNone/>
            </a:pPr>
            <a:r>
              <a:rPr lang="en-US" sz="1300" b="1" dirty="0">
                <a:solidFill>
                  <a:srgbClr val="2A2A2A"/>
                </a:solidFill>
                <a:latin typeface="Calibri" pitchFamily="34" charset="0"/>
                <a:ea typeface="Calibri" pitchFamily="34" charset="-122"/>
                <a:cs typeface="Calibri" pitchFamily="34" charset="-120"/>
              </a:rPr>
              <a:t>Local Bookstores (Indirect)</a:t>
            </a:r>
            <a:endParaRPr lang="en-US" sz="1300" dirty="0"/>
          </a:p>
        </p:txBody>
      </p:sp>
      <p:sp>
        <p:nvSpPr>
          <p:cNvPr id="32" name="Text 24"/>
          <p:cNvSpPr/>
          <p:nvPr/>
        </p:nvSpPr>
        <p:spPr>
          <a:xfrm>
            <a:off x="8138160" y="3749040"/>
            <a:ext cx="3154680" cy="640080"/>
          </a:xfrm>
          <a:prstGeom prst="rect">
            <a:avLst/>
          </a:prstGeom>
          <a:noFill/>
          <a:ln/>
        </p:spPr>
        <p:txBody>
          <a:bodyPr wrap="square" rtlCol="0" anchor="t"/>
          <a:lstStyle/>
          <a:p>
            <a:pPr marL="0" indent="0">
              <a:buNone/>
            </a:pPr>
            <a:r>
              <a:rPr lang="en-US" sz="1150" i="1" dirty="0">
                <a:solidFill>
                  <a:srgbClr val="6B6B6B"/>
                </a:solidFill>
                <a:latin typeface="Calibri" pitchFamily="34" charset="0"/>
                <a:ea typeface="Calibri" pitchFamily="34" charset="-122"/>
                <a:cs typeface="Calibri" pitchFamily="34" charset="-120"/>
              </a:rPr>
              <a:t>Understand changing demand</a:t>
            </a:r>
            <a:endParaRPr lang="en-US" sz="1150" dirty="0"/>
          </a:p>
        </p:txBody>
      </p:sp>
      <p:sp>
        <p:nvSpPr>
          <p:cNvPr id="33" name="Shape 25"/>
          <p:cNvSpPr/>
          <p:nvPr/>
        </p:nvSpPr>
        <p:spPr>
          <a:xfrm>
            <a:off x="548640" y="5074920"/>
            <a:ext cx="11091672" cy="1234440"/>
          </a:xfrm>
          <a:prstGeom prst="roundRect">
            <a:avLst>
              <a:gd name="adj" fmla="val 5926"/>
            </a:avLst>
          </a:prstGeom>
          <a:solidFill>
            <a:srgbClr val="2C5F2D"/>
          </a:solidFill>
          <a:ln/>
        </p:spPr>
      </p:sp>
      <p:sp>
        <p:nvSpPr>
          <p:cNvPr id="34" name="Text 26"/>
          <p:cNvSpPr/>
          <p:nvPr/>
        </p:nvSpPr>
        <p:spPr>
          <a:xfrm>
            <a:off x="548640" y="5074920"/>
            <a:ext cx="1828800" cy="12344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Students</a:t>
            </a:r>
            <a:endParaRPr lang="en-US" sz="1150" dirty="0"/>
          </a:p>
        </p:txBody>
      </p:sp>
      <p:sp>
        <p:nvSpPr>
          <p:cNvPr id="35" name="Text 27"/>
          <p:cNvSpPr/>
          <p:nvPr/>
        </p:nvSpPr>
        <p:spPr>
          <a:xfrm>
            <a:off x="2103120" y="5074920"/>
            <a:ext cx="274320" cy="1234440"/>
          </a:xfrm>
          <a:prstGeom prst="rect">
            <a:avLst/>
          </a:prstGeom>
          <a:noFill/>
          <a:ln/>
        </p:spPr>
        <p:txBody>
          <a:bodyPr wrap="square" rtlCol="0" anchor="ctr"/>
          <a:lstStyle/>
          <a:p>
            <a:pPr marL="0" indent="0" algn="ctr">
              <a:buNone/>
            </a:pPr>
            <a:r>
              <a:rPr lang="en-US" sz="1600" b="1" dirty="0">
                <a:solidFill>
                  <a:srgbClr val="97BC62"/>
                </a:solidFill>
              </a:rPr>
              <a:t>→</a:t>
            </a:r>
            <a:endParaRPr lang="en-US" sz="1600" dirty="0"/>
          </a:p>
        </p:txBody>
      </p:sp>
      <p:sp>
        <p:nvSpPr>
          <p:cNvPr id="36" name="Text 28"/>
          <p:cNvSpPr/>
          <p:nvPr/>
        </p:nvSpPr>
        <p:spPr>
          <a:xfrm>
            <a:off x="2377440" y="5074920"/>
            <a:ext cx="4206240" cy="1234440"/>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Buy / Sell / Rent / Borrow / Donate / Request</a:t>
            </a:r>
            <a:endParaRPr lang="en-US" sz="1150" dirty="0"/>
          </a:p>
        </p:txBody>
      </p:sp>
      <p:sp>
        <p:nvSpPr>
          <p:cNvPr id="37" name="Text 29"/>
          <p:cNvSpPr/>
          <p:nvPr/>
        </p:nvSpPr>
        <p:spPr>
          <a:xfrm>
            <a:off x="6309360" y="5074920"/>
            <a:ext cx="274320" cy="1234440"/>
          </a:xfrm>
          <a:prstGeom prst="rect">
            <a:avLst/>
          </a:prstGeom>
          <a:noFill/>
          <a:ln/>
        </p:spPr>
        <p:txBody>
          <a:bodyPr wrap="square" rtlCol="0" anchor="ctr"/>
          <a:lstStyle/>
          <a:p>
            <a:pPr marL="0" indent="0" algn="ctr">
              <a:buNone/>
            </a:pPr>
            <a:r>
              <a:rPr lang="en-US" sz="1600" b="1" dirty="0">
                <a:solidFill>
                  <a:srgbClr val="97BC62"/>
                </a:solidFill>
              </a:rPr>
              <a:t>→</a:t>
            </a:r>
            <a:endParaRPr lang="en-US" sz="1600" dirty="0"/>
          </a:p>
        </p:txBody>
      </p:sp>
      <p:sp>
        <p:nvSpPr>
          <p:cNvPr id="38" name="Text 30"/>
          <p:cNvSpPr/>
          <p:nvPr/>
        </p:nvSpPr>
        <p:spPr>
          <a:xfrm>
            <a:off x="6583680" y="5074920"/>
            <a:ext cx="3200400" cy="1234440"/>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Campus Resource Exchange System</a:t>
            </a:r>
            <a:endParaRPr lang="en-US" sz="1150" dirty="0"/>
          </a:p>
        </p:txBody>
      </p:sp>
      <p:sp>
        <p:nvSpPr>
          <p:cNvPr id="39" name="Text 31"/>
          <p:cNvSpPr/>
          <p:nvPr/>
        </p:nvSpPr>
        <p:spPr>
          <a:xfrm>
            <a:off x="9509760" y="5074920"/>
            <a:ext cx="274320" cy="1234440"/>
          </a:xfrm>
          <a:prstGeom prst="rect">
            <a:avLst/>
          </a:prstGeom>
          <a:noFill/>
          <a:ln/>
        </p:spPr>
        <p:txBody>
          <a:bodyPr wrap="square" rtlCol="0" anchor="ctr"/>
          <a:lstStyle/>
          <a:p>
            <a:pPr marL="0" indent="0" algn="ctr">
              <a:buNone/>
            </a:pPr>
            <a:r>
              <a:rPr lang="en-US" sz="1600" b="1" dirty="0">
                <a:solidFill>
                  <a:srgbClr val="97BC62"/>
                </a:solidFill>
              </a:rPr>
              <a:t>→</a:t>
            </a:r>
            <a:endParaRPr lang="en-US" sz="1600" dirty="0"/>
          </a:p>
        </p:txBody>
      </p:sp>
      <p:sp>
        <p:nvSpPr>
          <p:cNvPr id="40" name="Text 32"/>
          <p:cNvSpPr/>
          <p:nvPr/>
        </p:nvSpPr>
        <p:spPr>
          <a:xfrm>
            <a:off x="9784080" y="5074920"/>
            <a:ext cx="1856232" cy="12344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Affordable Resource Sharing</a:t>
            </a:r>
            <a:endParaRPr lang="en-US" sz="1150" dirty="0"/>
          </a:p>
        </p:txBody>
      </p:sp>
      <p:sp>
        <p:nvSpPr>
          <p:cNvPr id="41" name="Text 33"/>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6B6B"/>
                </a:solidFill>
                <a:latin typeface="Calibri" pitchFamily="34" charset="0"/>
                <a:ea typeface="Calibri" pitchFamily="34" charset="-122"/>
                <a:cs typeface="Calibri" pitchFamily="34" charset="-120"/>
              </a:rPr>
              <a:t>CampusCycle — Project Overview</a:t>
            </a:r>
            <a:endParaRPr lang="en-US" sz="1000" dirty="0"/>
          </a:p>
        </p:txBody>
      </p:sp>
      <p:sp>
        <p:nvSpPr>
          <p:cNvPr id="42" name="Text 34"/>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548640"/>
          </a:xfrm>
          <a:prstGeom prst="rect">
            <a:avLst/>
          </a:prstGeom>
          <a:noFill/>
          <a:ln/>
        </p:spPr>
        <p:txBody>
          <a:bodyPr wrap="square" rtlCol="0" anchor="ctr"/>
          <a:lstStyle/>
          <a:p>
            <a:pPr marL="0" indent="0">
              <a:buNone/>
            </a:pPr>
            <a:r>
              <a:rPr lang="en-US" sz="2800" b="1" dirty="0">
                <a:solidFill>
                  <a:srgbClr val="2C5F2D"/>
                </a:solidFill>
                <a:latin typeface="Cambria" pitchFamily="34" charset="0"/>
                <a:ea typeface="Cambria" pitchFamily="34" charset="-122"/>
                <a:cs typeface="Cambria" pitchFamily="34" charset="-120"/>
              </a:rPr>
              <a:t>Existing Platforms vs. CampusCycle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051560"/>
          <a:ext cx="11091672" cy="4023360"/>
        </p:xfrm>
        <a:graphic>
          <a:graphicData uri="http://schemas.openxmlformats.org/drawingml/2006/table">
            <a:tbl>
              <a:tblPr/>
              <a:tblGrid>
                <a:gridCol w="29260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36576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Feature</a:t>
                      </a:r>
                      <a:endParaRPr lang="en-US" sz="12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C5F2D"/>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OLX</a:t>
                      </a:r>
                      <a:endParaRPr lang="en-US" sz="12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C5F2D"/>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FB Marketplace</a:t>
                      </a:r>
                      <a:endParaRPr lang="en-US" sz="12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C5F2D"/>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WhatsApp Groups</a:t>
                      </a:r>
                      <a:endParaRPr lang="en-US" sz="12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C5F2D"/>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CampusCycle</a:t>
                      </a:r>
                      <a:endParaRPr lang="en-US" sz="12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365760">
                <a:tc>
                  <a:txBody>
                    <a:bodyPr/>
                    <a:lstStyle/>
                    <a:p>
                      <a:pPr marL="0" indent="0" algn="l">
                        <a:buNone/>
                      </a:pPr>
                      <a:r>
                        <a:rPr lang="en-US" sz="1200" dirty="0">
                          <a:solidFill>
                            <a:srgbClr val="2A2A2A"/>
                          </a:solidFill>
                          <a:latin typeface="Calibri" pitchFamily="34" charset="0"/>
                          <a:ea typeface="Calibri" pitchFamily="34" charset="-122"/>
                          <a:cs typeface="Calibri" pitchFamily="34" charset="-120"/>
                        </a:rPr>
                        <a:t>Student Verification</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2C5F2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2E5"/>
                    </a:solidFill>
                  </a:tcPr>
                </a:tc>
                <a:extLst>
                  <a:ext uri="{0D108BD9-81ED-4DB2-BD59-A6C34878D82A}">
                    <a16:rowId xmlns:a16="http://schemas.microsoft.com/office/drawing/2014/main" val="10001"/>
                  </a:ext>
                </a:extLst>
              </a:tr>
              <a:tr h="365760">
                <a:tc>
                  <a:txBody>
                    <a:bodyPr/>
                    <a:lstStyle/>
                    <a:p>
                      <a:pPr marL="0" indent="0" algn="l">
                        <a:buNone/>
                      </a:pPr>
                      <a:r>
                        <a:rPr lang="en-US" sz="1200" dirty="0">
                          <a:solidFill>
                            <a:srgbClr val="2A2A2A"/>
                          </a:solidFill>
                          <a:latin typeface="Calibri" pitchFamily="34" charset="0"/>
                          <a:ea typeface="Calibri" pitchFamily="34" charset="-122"/>
                          <a:cs typeface="Calibri" pitchFamily="34" charset="-120"/>
                        </a:rPr>
                        <a:t>University Exclusive</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6B6B6B"/>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b="1" dirty="0">
                          <a:solidFill>
                            <a:srgbClr val="2C5F2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2E5"/>
                    </a:solidFill>
                  </a:tcPr>
                </a:tc>
                <a:extLst>
                  <a:ext uri="{0D108BD9-81ED-4DB2-BD59-A6C34878D82A}">
                    <a16:rowId xmlns:a16="http://schemas.microsoft.com/office/drawing/2014/main" val="10002"/>
                  </a:ext>
                </a:extLst>
              </a:tr>
              <a:tr h="365760">
                <a:tc>
                  <a:txBody>
                    <a:bodyPr/>
                    <a:lstStyle/>
                    <a:p>
                      <a:pPr marL="0" indent="0" algn="l">
                        <a:buNone/>
                      </a:pPr>
                      <a:r>
                        <a:rPr lang="en-US" sz="1200" dirty="0">
                          <a:solidFill>
                            <a:srgbClr val="2A2A2A"/>
                          </a:solidFill>
                          <a:latin typeface="Calibri" pitchFamily="34" charset="0"/>
                          <a:ea typeface="Calibri" pitchFamily="34" charset="-122"/>
                          <a:cs typeface="Calibri" pitchFamily="34" charset="-120"/>
                        </a:rPr>
                        <a:t>Academic Categories</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2C5F2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2E5"/>
                    </a:solidFill>
                  </a:tcPr>
                </a:tc>
                <a:extLst>
                  <a:ext uri="{0D108BD9-81ED-4DB2-BD59-A6C34878D82A}">
                    <a16:rowId xmlns:a16="http://schemas.microsoft.com/office/drawing/2014/main" val="10003"/>
                  </a:ext>
                </a:extLst>
              </a:tr>
              <a:tr h="365760">
                <a:tc>
                  <a:txBody>
                    <a:bodyPr/>
                    <a:lstStyle/>
                    <a:p>
                      <a:pPr marL="0" indent="0" algn="l">
                        <a:buNone/>
                      </a:pPr>
                      <a:r>
                        <a:rPr lang="en-US" sz="1200" dirty="0">
                          <a:solidFill>
                            <a:srgbClr val="2A2A2A"/>
                          </a:solidFill>
                          <a:latin typeface="Calibri" pitchFamily="34" charset="0"/>
                          <a:ea typeface="Calibri" pitchFamily="34" charset="-122"/>
                          <a:cs typeface="Calibri" pitchFamily="34" charset="-120"/>
                        </a:rPr>
                        <a:t>Rent Equipment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6B6B6B"/>
                          </a:solidFill>
                          <a:latin typeface="Calibri" pitchFamily="34" charset="0"/>
                          <a:ea typeface="Calibri" pitchFamily="34" charset="-122"/>
                          <a:cs typeface="Calibri" pitchFamily="34" charset="-120"/>
                        </a:rPr>
                        <a:t>Limited</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6B6B6B"/>
                          </a:solidFill>
                          <a:latin typeface="Calibri" pitchFamily="34" charset="0"/>
                          <a:ea typeface="Calibri" pitchFamily="34" charset="-122"/>
                          <a:cs typeface="Calibri" pitchFamily="34" charset="-120"/>
                        </a:rPr>
                        <a:t>Limited</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b="1" dirty="0">
                          <a:solidFill>
                            <a:srgbClr val="2C5F2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2E5"/>
                    </a:solidFill>
                  </a:tcPr>
                </a:tc>
                <a:extLst>
                  <a:ext uri="{0D108BD9-81ED-4DB2-BD59-A6C34878D82A}">
                    <a16:rowId xmlns:a16="http://schemas.microsoft.com/office/drawing/2014/main" val="10004"/>
                  </a:ext>
                </a:extLst>
              </a:tr>
              <a:tr h="365760">
                <a:tc>
                  <a:txBody>
                    <a:bodyPr/>
                    <a:lstStyle/>
                    <a:p>
                      <a:pPr marL="0" indent="0" algn="l">
                        <a:buNone/>
                      </a:pPr>
                      <a:r>
                        <a:rPr lang="en-US" sz="1200" dirty="0">
                          <a:solidFill>
                            <a:srgbClr val="2A2A2A"/>
                          </a:solidFill>
                          <a:latin typeface="Calibri" pitchFamily="34" charset="0"/>
                          <a:ea typeface="Calibri" pitchFamily="34" charset="-122"/>
                          <a:cs typeface="Calibri" pitchFamily="34" charset="-120"/>
                        </a:rPr>
                        <a:t>Borrow &amp; Lend</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6B6B6B"/>
                          </a:solidFill>
                          <a:latin typeface="Calibri" pitchFamily="34" charset="0"/>
                          <a:ea typeface="Calibri" pitchFamily="34" charset="-122"/>
                          <a:cs typeface="Calibri" pitchFamily="34" charset="-120"/>
                        </a:rPr>
                        <a:t>Informal</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2C5F2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2E5"/>
                    </a:solidFill>
                  </a:tcPr>
                </a:tc>
                <a:extLst>
                  <a:ext uri="{0D108BD9-81ED-4DB2-BD59-A6C34878D82A}">
                    <a16:rowId xmlns:a16="http://schemas.microsoft.com/office/drawing/2014/main" val="10005"/>
                  </a:ext>
                </a:extLst>
              </a:tr>
              <a:tr h="365760">
                <a:tc>
                  <a:txBody>
                    <a:bodyPr/>
                    <a:lstStyle/>
                    <a:p>
                      <a:pPr marL="0" indent="0" algn="l">
                        <a:buNone/>
                      </a:pPr>
                      <a:r>
                        <a:rPr lang="en-US" sz="1200" dirty="0">
                          <a:solidFill>
                            <a:srgbClr val="2A2A2A"/>
                          </a:solidFill>
                          <a:latin typeface="Calibri" pitchFamily="34" charset="0"/>
                          <a:ea typeface="Calibri" pitchFamily="34" charset="-122"/>
                          <a:cs typeface="Calibri" pitchFamily="34" charset="-120"/>
                        </a:rPr>
                        <a:t>Donation Module</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6B6B6B"/>
                          </a:solidFill>
                          <a:latin typeface="Calibri" pitchFamily="34" charset="0"/>
                          <a:ea typeface="Calibri" pitchFamily="34" charset="-122"/>
                          <a:cs typeface="Calibri" pitchFamily="34" charset="-120"/>
                        </a:rPr>
                        <a:t>Informal</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b="1" dirty="0">
                          <a:solidFill>
                            <a:srgbClr val="2C5F2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2E5"/>
                    </a:solidFill>
                  </a:tcPr>
                </a:tc>
                <a:extLst>
                  <a:ext uri="{0D108BD9-81ED-4DB2-BD59-A6C34878D82A}">
                    <a16:rowId xmlns:a16="http://schemas.microsoft.com/office/drawing/2014/main" val="10006"/>
                  </a:ext>
                </a:extLst>
              </a:tr>
              <a:tr h="365760">
                <a:tc>
                  <a:txBody>
                    <a:bodyPr/>
                    <a:lstStyle/>
                    <a:p>
                      <a:pPr marL="0" indent="0" algn="l">
                        <a:buNone/>
                      </a:pPr>
                      <a:r>
                        <a:rPr lang="en-US" sz="1200" dirty="0">
                          <a:solidFill>
                            <a:srgbClr val="2A2A2A"/>
                          </a:solidFill>
                          <a:latin typeface="Calibri" pitchFamily="34" charset="0"/>
                          <a:ea typeface="Calibri" pitchFamily="34" charset="-122"/>
                          <a:cs typeface="Calibri" pitchFamily="34" charset="-120"/>
                        </a:rPr>
                        <a:t>Request Items</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6B6B6B"/>
                          </a:solidFill>
                          <a:latin typeface="Calibri" pitchFamily="34" charset="0"/>
                          <a:ea typeface="Calibri" pitchFamily="34" charset="-122"/>
                          <a:cs typeface="Calibri" pitchFamily="34" charset="-120"/>
                        </a:rPr>
                        <a:t>Limited</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2C5F2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2E5"/>
                    </a:solidFill>
                  </a:tcPr>
                </a:tc>
                <a:extLst>
                  <a:ext uri="{0D108BD9-81ED-4DB2-BD59-A6C34878D82A}">
                    <a16:rowId xmlns:a16="http://schemas.microsoft.com/office/drawing/2014/main" val="10007"/>
                  </a:ext>
                </a:extLst>
              </a:tr>
              <a:tr h="365760">
                <a:tc>
                  <a:txBody>
                    <a:bodyPr/>
                    <a:lstStyle/>
                    <a:p>
                      <a:pPr marL="0" indent="0" algn="l">
                        <a:buNone/>
                      </a:pPr>
                      <a:r>
                        <a:rPr lang="en-US" sz="1200" dirty="0">
                          <a:solidFill>
                            <a:srgbClr val="2A2A2A"/>
                          </a:solidFill>
                          <a:latin typeface="Calibri" pitchFamily="34" charset="0"/>
                          <a:ea typeface="Calibri" pitchFamily="34" charset="-122"/>
                          <a:cs typeface="Calibri" pitchFamily="34" charset="-120"/>
                        </a:rPr>
                        <a:t>Campus Pickup</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6B6B6B"/>
                          </a:solidFill>
                          <a:latin typeface="Calibri" pitchFamily="34" charset="0"/>
                          <a:ea typeface="Calibri" pitchFamily="34" charset="-122"/>
                          <a:cs typeface="Calibri" pitchFamily="34" charset="-120"/>
                        </a:rPr>
                        <a:t>Manual</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b="1" dirty="0">
                          <a:solidFill>
                            <a:srgbClr val="2C5F2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2E5"/>
                    </a:solidFill>
                  </a:tcPr>
                </a:tc>
                <a:extLst>
                  <a:ext uri="{0D108BD9-81ED-4DB2-BD59-A6C34878D82A}">
                    <a16:rowId xmlns:a16="http://schemas.microsoft.com/office/drawing/2014/main" val="10008"/>
                  </a:ext>
                </a:extLst>
              </a:tr>
              <a:tr h="365760">
                <a:tc>
                  <a:txBody>
                    <a:bodyPr/>
                    <a:lstStyle/>
                    <a:p>
                      <a:pPr marL="0" indent="0" algn="l">
                        <a:buNone/>
                      </a:pPr>
                      <a:r>
                        <a:rPr lang="en-US" sz="1200" dirty="0">
                          <a:solidFill>
                            <a:srgbClr val="2A2A2A"/>
                          </a:solidFill>
                          <a:latin typeface="Calibri" pitchFamily="34" charset="0"/>
                          <a:ea typeface="Calibri" pitchFamily="34" charset="-122"/>
                          <a:cs typeface="Calibri" pitchFamily="34" charset="-120"/>
                        </a:rPr>
                        <a:t>Student Ratings</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6B6B6B"/>
                          </a:solidFill>
                          <a:latin typeface="Calibri" pitchFamily="34" charset="0"/>
                          <a:ea typeface="Calibri" pitchFamily="34" charset="-122"/>
                          <a:cs typeface="Calibri" pitchFamily="34" charset="-120"/>
                        </a:rPr>
                        <a:t>Limited</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6B6B6B"/>
                          </a:solidFill>
                          <a:latin typeface="Calibri" pitchFamily="34" charset="0"/>
                          <a:ea typeface="Calibri" pitchFamily="34" charset="-122"/>
                          <a:cs typeface="Calibri" pitchFamily="34" charset="-120"/>
                        </a:rPr>
                        <a:t>Limited</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2C5F2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2E5"/>
                    </a:solidFill>
                  </a:tcPr>
                </a:tc>
                <a:extLst>
                  <a:ext uri="{0D108BD9-81ED-4DB2-BD59-A6C34878D82A}">
                    <a16:rowId xmlns:a16="http://schemas.microsoft.com/office/drawing/2014/main" val="10009"/>
                  </a:ext>
                </a:extLst>
              </a:tr>
              <a:tr h="365760">
                <a:tc>
                  <a:txBody>
                    <a:bodyPr/>
                    <a:lstStyle/>
                    <a:p>
                      <a:pPr marL="0" indent="0" algn="l">
                        <a:buNone/>
                      </a:pPr>
                      <a:r>
                        <a:rPr lang="en-US" sz="1200" dirty="0">
                          <a:solidFill>
                            <a:srgbClr val="2A2A2A"/>
                          </a:solidFill>
                          <a:latin typeface="Calibri" pitchFamily="34" charset="0"/>
                          <a:ea typeface="Calibri" pitchFamily="34" charset="-122"/>
                          <a:cs typeface="Calibri" pitchFamily="34" charset="-120"/>
                        </a:rPr>
                        <a:t>Sustainability Dashboard</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200" b="1" dirty="0">
                          <a:solidFill>
                            <a:srgbClr val="2C5F2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2E5"/>
                    </a:solidFill>
                  </a:tcPr>
                </a:tc>
                <a:extLst>
                  <a:ext uri="{0D108BD9-81ED-4DB2-BD59-A6C34878D82A}">
                    <a16:rowId xmlns:a16="http://schemas.microsoft.com/office/drawing/2014/main" val="10010"/>
                  </a:ext>
                </a:extLst>
              </a:tr>
            </a:tbl>
          </a:graphicData>
        </a:graphic>
      </p:graphicFrame>
      <p:sp>
        <p:nvSpPr>
          <p:cNvPr id="4" name="Shape 1"/>
          <p:cNvSpPr/>
          <p:nvPr/>
        </p:nvSpPr>
        <p:spPr>
          <a:xfrm>
            <a:off x="548640" y="5257800"/>
            <a:ext cx="11091672" cy="1051560"/>
          </a:xfrm>
          <a:prstGeom prst="roundRect">
            <a:avLst>
              <a:gd name="adj" fmla="val 6957"/>
            </a:avLst>
          </a:prstGeom>
          <a:solidFill>
            <a:srgbClr val="F5F5F5"/>
          </a:solidFill>
          <a:ln/>
        </p:spPr>
      </p:sp>
      <p:sp>
        <p:nvSpPr>
          <p:cNvPr id="3" name="Text 2"/>
          <p:cNvSpPr/>
          <p:nvPr/>
        </p:nvSpPr>
        <p:spPr>
          <a:xfrm>
            <a:off x="822960" y="5349240"/>
            <a:ext cx="2743200" cy="320040"/>
          </a:xfrm>
          <a:prstGeom prst="rect">
            <a:avLst/>
          </a:prstGeom>
          <a:noFill/>
          <a:ln/>
        </p:spPr>
        <p:txBody>
          <a:bodyPr wrap="square"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Current Gap</a:t>
            </a:r>
            <a:endParaRPr lang="en-US" sz="1300" dirty="0"/>
          </a:p>
        </p:txBody>
      </p:sp>
      <p:sp>
        <p:nvSpPr>
          <p:cNvPr id="6" name="Text 3"/>
          <p:cNvSpPr/>
          <p:nvPr/>
        </p:nvSpPr>
        <p:spPr>
          <a:xfrm>
            <a:off x="822960" y="5669280"/>
            <a:ext cx="10515600" cy="548640"/>
          </a:xfrm>
          <a:prstGeom prst="rect">
            <a:avLst/>
          </a:prstGeom>
          <a:noFill/>
          <a:ln/>
        </p:spPr>
        <p:txBody>
          <a:bodyPr wrap="square" rtlCol="0" anchor="t"/>
          <a:lstStyle/>
          <a:p>
            <a:pPr marL="0" indent="0">
              <a:buNone/>
            </a:pPr>
            <a:r>
              <a:rPr lang="en-US" sz="1250" dirty="0">
                <a:solidFill>
                  <a:srgbClr val="2A2A2A"/>
                </a:solidFill>
                <a:latin typeface="Calibri" pitchFamily="34" charset="0"/>
                <a:ea typeface="Calibri" pitchFamily="34" charset="-122"/>
                <a:cs typeface="Calibri" pitchFamily="34" charset="-120"/>
              </a:rPr>
              <a:t>Existing platforms support general buying and selling but do not address the unique needs of a university resource-sharing ecosystem.</a:t>
            </a:r>
            <a:endParaRPr lang="en-US" sz="1250" dirty="0"/>
          </a:p>
        </p:txBody>
      </p:sp>
      <p:sp>
        <p:nvSpPr>
          <p:cNvPr id="7" name="Text 4"/>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6B6B"/>
                </a:solidFill>
                <a:latin typeface="Calibri" pitchFamily="34" charset="0"/>
                <a:ea typeface="Calibri" pitchFamily="34" charset="-122"/>
                <a:cs typeface="Calibri" pitchFamily="34" charset="-120"/>
              </a:rPr>
              <a:t>CampusCycle — Project Overview</a:t>
            </a:r>
            <a:endParaRPr lang="en-US" sz="1000" dirty="0"/>
          </a:p>
        </p:txBody>
      </p:sp>
      <p:sp>
        <p:nvSpPr>
          <p:cNvPr id="8" name="Text 5"/>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058400" cy="548640"/>
          </a:xfrm>
          <a:prstGeom prst="rect">
            <a:avLst/>
          </a:prstGeom>
          <a:noFill/>
          <a:ln/>
        </p:spPr>
        <p:txBody>
          <a:bodyPr wrap="square" rtlCol="0" anchor="ctr"/>
          <a:lstStyle/>
          <a:p>
            <a:pPr marL="0" indent="0">
              <a:buNone/>
            </a:pPr>
            <a:r>
              <a:rPr lang="en-US" sz="2600" b="1" dirty="0">
                <a:solidFill>
                  <a:srgbClr val="2C5F2D"/>
                </a:solidFill>
                <a:latin typeface="Cambria" pitchFamily="34" charset="0"/>
                <a:ea typeface="Cambria" pitchFamily="34" charset="-122"/>
                <a:cs typeface="Cambria" pitchFamily="34" charset="-120"/>
              </a:rPr>
              <a:t>Current Workflow vs. Proposed Workflow</a:t>
            </a:r>
            <a:endParaRPr lang="en-US" sz="2600" dirty="0"/>
          </a:p>
        </p:txBody>
      </p:sp>
      <p:sp>
        <p:nvSpPr>
          <p:cNvPr id="3" name="Shape 1"/>
          <p:cNvSpPr/>
          <p:nvPr/>
        </p:nvSpPr>
        <p:spPr>
          <a:xfrm>
            <a:off x="548640" y="1051560"/>
            <a:ext cx="5349240" cy="5212080"/>
          </a:xfrm>
          <a:prstGeom prst="roundRect">
            <a:avLst>
              <a:gd name="adj" fmla="val 1404"/>
            </a:avLst>
          </a:prstGeom>
          <a:solidFill>
            <a:srgbClr val="F5F5F5"/>
          </a:solidFill>
          <a:ln/>
        </p:spPr>
      </p:sp>
      <p:sp>
        <p:nvSpPr>
          <p:cNvPr id="4" name="Text 2"/>
          <p:cNvSpPr/>
          <p:nvPr/>
        </p:nvSpPr>
        <p:spPr>
          <a:xfrm>
            <a:off x="822960" y="1234440"/>
            <a:ext cx="4800600" cy="365760"/>
          </a:xfrm>
          <a:prstGeom prst="rect">
            <a:avLst/>
          </a:prstGeom>
          <a:noFill/>
          <a:ln/>
        </p:spPr>
        <p:txBody>
          <a:bodyPr wrap="square" rtlCol="0" anchor="ctr"/>
          <a:lstStyle/>
          <a:p>
            <a:pPr marL="0" indent="0">
              <a:buNone/>
            </a:pPr>
            <a:r>
              <a:rPr lang="en-US" sz="1400" b="1" kern="0" spc="100" dirty="0">
                <a:solidFill>
                  <a:srgbClr val="B85042"/>
                </a:solidFill>
                <a:latin typeface="Calibri" pitchFamily="34" charset="0"/>
                <a:ea typeface="Calibri" pitchFamily="34" charset="-122"/>
                <a:cs typeface="Calibri" pitchFamily="34" charset="-120"/>
              </a:rPr>
              <a:t>CURRENT SYSTEM (AS-IS)</a:t>
            </a:r>
            <a:endParaRPr lang="en-US" sz="1400" dirty="0"/>
          </a:p>
        </p:txBody>
      </p:sp>
      <p:sp>
        <p:nvSpPr>
          <p:cNvPr id="5" name="Shape 3"/>
          <p:cNvSpPr/>
          <p:nvPr/>
        </p:nvSpPr>
        <p:spPr>
          <a:xfrm>
            <a:off x="822960" y="1737360"/>
            <a:ext cx="4800600" cy="310896"/>
          </a:xfrm>
          <a:prstGeom prst="roundRect">
            <a:avLst>
              <a:gd name="adj" fmla="val 14706"/>
            </a:avLst>
          </a:prstGeom>
          <a:solidFill>
            <a:srgbClr val="FFFFFF"/>
          </a:solidFill>
          <a:ln w="9525">
            <a:solidFill>
              <a:srgbClr val="DDDDDD"/>
            </a:solidFill>
            <a:prstDash val="solid"/>
          </a:ln>
        </p:spPr>
      </p:sp>
      <p:sp>
        <p:nvSpPr>
          <p:cNvPr id="6" name="Text 4"/>
          <p:cNvSpPr/>
          <p:nvPr/>
        </p:nvSpPr>
        <p:spPr>
          <a:xfrm>
            <a:off x="960120" y="1737360"/>
            <a:ext cx="4526280" cy="310896"/>
          </a:xfrm>
          <a:prstGeom prst="rect">
            <a:avLst/>
          </a:prstGeom>
          <a:noFill/>
          <a:ln/>
        </p:spPr>
        <p:txBody>
          <a:bodyPr wrap="square" rtlCol="0" anchor="ctr"/>
          <a:lstStyle/>
          <a:p>
            <a:pPr marL="0" indent="0">
              <a:buNone/>
            </a:pPr>
            <a:r>
              <a:rPr lang="en-US" sz="1150" dirty="0">
                <a:solidFill>
                  <a:srgbClr val="2A2A2A"/>
                </a:solidFill>
                <a:latin typeface="Calibri" pitchFamily="34" charset="0"/>
                <a:ea typeface="Calibri" pitchFamily="34" charset="-122"/>
                <a:cs typeface="Calibri" pitchFamily="34" charset="-120"/>
              </a:rPr>
              <a:t>Student Needs Resource</a:t>
            </a:r>
            <a:endParaRPr lang="en-US" sz="1150" dirty="0"/>
          </a:p>
        </p:txBody>
      </p:sp>
      <p:sp>
        <p:nvSpPr>
          <p:cNvPr id="7" name="Text 5"/>
          <p:cNvSpPr/>
          <p:nvPr/>
        </p:nvSpPr>
        <p:spPr>
          <a:xfrm>
            <a:off x="3086100" y="2029968"/>
            <a:ext cx="274320" cy="146304"/>
          </a:xfrm>
          <a:prstGeom prst="rect">
            <a:avLst/>
          </a:prstGeom>
          <a:noFill/>
          <a:ln/>
        </p:spPr>
        <p:txBody>
          <a:bodyPr wrap="square" rtlCol="0" anchor="ctr"/>
          <a:lstStyle/>
          <a:p>
            <a:pPr marL="0" indent="0" algn="ctr">
              <a:buNone/>
            </a:pPr>
            <a:r>
              <a:rPr lang="en-US" sz="1100" dirty="0">
                <a:solidFill>
                  <a:srgbClr val="6B6B6B"/>
                </a:solidFill>
              </a:rPr>
              <a:t>↓</a:t>
            </a:r>
            <a:endParaRPr lang="en-US" sz="1100" dirty="0"/>
          </a:p>
        </p:txBody>
      </p:sp>
      <p:sp>
        <p:nvSpPr>
          <p:cNvPr id="8" name="Shape 6"/>
          <p:cNvSpPr/>
          <p:nvPr/>
        </p:nvSpPr>
        <p:spPr>
          <a:xfrm>
            <a:off x="822960" y="2194560"/>
            <a:ext cx="4800600" cy="310896"/>
          </a:xfrm>
          <a:prstGeom prst="roundRect">
            <a:avLst>
              <a:gd name="adj" fmla="val 14706"/>
            </a:avLst>
          </a:prstGeom>
          <a:solidFill>
            <a:srgbClr val="FFFFFF"/>
          </a:solidFill>
          <a:ln w="9525">
            <a:solidFill>
              <a:srgbClr val="DDDDDD"/>
            </a:solidFill>
            <a:prstDash val="solid"/>
          </a:ln>
        </p:spPr>
      </p:sp>
      <p:sp>
        <p:nvSpPr>
          <p:cNvPr id="9" name="Text 7"/>
          <p:cNvSpPr/>
          <p:nvPr/>
        </p:nvSpPr>
        <p:spPr>
          <a:xfrm>
            <a:off x="960120" y="2194560"/>
            <a:ext cx="4526280" cy="310896"/>
          </a:xfrm>
          <a:prstGeom prst="rect">
            <a:avLst/>
          </a:prstGeom>
          <a:noFill/>
          <a:ln/>
        </p:spPr>
        <p:txBody>
          <a:bodyPr wrap="square" rtlCol="0" anchor="ctr"/>
          <a:lstStyle/>
          <a:p>
            <a:pPr marL="0" indent="0">
              <a:buNone/>
            </a:pPr>
            <a:r>
              <a:rPr lang="en-US" sz="1150" dirty="0">
                <a:solidFill>
                  <a:srgbClr val="2A2A2A"/>
                </a:solidFill>
                <a:latin typeface="Calibri" pitchFamily="34" charset="0"/>
                <a:ea typeface="Calibri" pitchFamily="34" charset="-122"/>
                <a:cs typeface="Calibri" pitchFamily="34" charset="-120"/>
              </a:rPr>
              <a:t>Ask Friends</a:t>
            </a:r>
            <a:endParaRPr lang="en-US" sz="1150" dirty="0"/>
          </a:p>
        </p:txBody>
      </p:sp>
      <p:sp>
        <p:nvSpPr>
          <p:cNvPr id="10" name="Text 8"/>
          <p:cNvSpPr/>
          <p:nvPr/>
        </p:nvSpPr>
        <p:spPr>
          <a:xfrm>
            <a:off x="3086100" y="2487168"/>
            <a:ext cx="274320" cy="146304"/>
          </a:xfrm>
          <a:prstGeom prst="rect">
            <a:avLst/>
          </a:prstGeom>
          <a:noFill/>
          <a:ln/>
        </p:spPr>
        <p:txBody>
          <a:bodyPr wrap="square" rtlCol="0" anchor="ctr"/>
          <a:lstStyle/>
          <a:p>
            <a:pPr marL="0" indent="0" algn="ctr">
              <a:buNone/>
            </a:pPr>
            <a:r>
              <a:rPr lang="en-US" sz="1100" dirty="0">
                <a:solidFill>
                  <a:srgbClr val="6B6B6B"/>
                </a:solidFill>
              </a:rPr>
              <a:t>↓</a:t>
            </a:r>
            <a:endParaRPr lang="en-US" sz="1100" dirty="0"/>
          </a:p>
        </p:txBody>
      </p:sp>
      <p:sp>
        <p:nvSpPr>
          <p:cNvPr id="11" name="Shape 9"/>
          <p:cNvSpPr/>
          <p:nvPr/>
        </p:nvSpPr>
        <p:spPr>
          <a:xfrm>
            <a:off x="822960" y="2651760"/>
            <a:ext cx="4800600" cy="310896"/>
          </a:xfrm>
          <a:prstGeom prst="roundRect">
            <a:avLst>
              <a:gd name="adj" fmla="val 14706"/>
            </a:avLst>
          </a:prstGeom>
          <a:solidFill>
            <a:srgbClr val="FFFFFF"/>
          </a:solidFill>
          <a:ln w="9525">
            <a:solidFill>
              <a:srgbClr val="DDDDDD"/>
            </a:solidFill>
            <a:prstDash val="solid"/>
          </a:ln>
        </p:spPr>
      </p:sp>
      <p:sp>
        <p:nvSpPr>
          <p:cNvPr id="12" name="Text 10"/>
          <p:cNvSpPr/>
          <p:nvPr/>
        </p:nvSpPr>
        <p:spPr>
          <a:xfrm>
            <a:off x="960120" y="2651760"/>
            <a:ext cx="4526280" cy="310896"/>
          </a:xfrm>
          <a:prstGeom prst="rect">
            <a:avLst/>
          </a:prstGeom>
          <a:noFill/>
          <a:ln/>
        </p:spPr>
        <p:txBody>
          <a:bodyPr wrap="square" rtlCol="0" anchor="ctr"/>
          <a:lstStyle/>
          <a:p>
            <a:pPr marL="0" indent="0">
              <a:buNone/>
            </a:pPr>
            <a:r>
              <a:rPr lang="en-US" sz="1150" dirty="0">
                <a:solidFill>
                  <a:srgbClr val="2A2A2A"/>
                </a:solidFill>
                <a:latin typeface="Calibri" pitchFamily="34" charset="0"/>
                <a:ea typeface="Calibri" pitchFamily="34" charset="-122"/>
                <a:cs typeface="Calibri" pitchFamily="34" charset="-120"/>
              </a:rPr>
              <a:t>Search WhatsApp Groups</a:t>
            </a:r>
            <a:endParaRPr lang="en-US" sz="1150" dirty="0"/>
          </a:p>
        </p:txBody>
      </p:sp>
      <p:sp>
        <p:nvSpPr>
          <p:cNvPr id="13" name="Text 11"/>
          <p:cNvSpPr/>
          <p:nvPr/>
        </p:nvSpPr>
        <p:spPr>
          <a:xfrm>
            <a:off x="3086100" y="2944368"/>
            <a:ext cx="274320" cy="146304"/>
          </a:xfrm>
          <a:prstGeom prst="rect">
            <a:avLst/>
          </a:prstGeom>
          <a:noFill/>
          <a:ln/>
        </p:spPr>
        <p:txBody>
          <a:bodyPr wrap="square" rtlCol="0" anchor="ctr"/>
          <a:lstStyle/>
          <a:p>
            <a:pPr marL="0" indent="0" algn="ctr">
              <a:buNone/>
            </a:pPr>
            <a:r>
              <a:rPr lang="en-US" sz="1100" dirty="0">
                <a:solidFill>
                  <a:srgbClr val="6B6B6B"/>
                </a:solidFill>
              </a:rPr>
              <a:t>↓</a:t>
            </a:r>
            <a:endParaRPr lang="en-US" sz="1100" dirty="0"/>
          </a:p>
        </p:txBody>
      </p:sp>
      <p:sp>
        <p:nvSpPr>
          <p:cNvPr id="14" name="Shape 12"/>
          <p:cNvSpPr/>
          <p:nvPr/>
        </p:nvSpPr>
        <p:spPr>
          <a:xfrm>
            <a:off x="822960" y="3108960"/>
            <a:ext cx="4800600" cy="310896"/>
          </a:xfrm>
          <a:prstGeom prst="roundRect">
            <a:avLst>
              <a:gd name="adj" fmla="val 14706"/>
            </a:avLst>
          </a:prstGeom>
          <a:solidFill>
            <a:srgbClr val="FFFFFF"/>
          </a:solidFill>
          <a:ln w="9525">
            <a:solidFill>
              <a:srgbClr val="DDDDDD"/>
            </a:solidFill>
            <a:prstDash val="solid"/>
          </a:ln>
        </p:spPr>
      </p:sp>
      <p:sp>
        <p:nvSpPr>
          <p:cNvPr id="15" name="Text 13"/>
          <p:cNvSpPr/>
          <p:nvPr/>
        </p:nvSpPr>
        <p:spPr>
          <a:xfrm>
            <a:off x="960120" y="3108960"/>
            <a:ext cx="4526280" cy="310896"/>
          </a:xfrm>
          <a:prstGeom prst="rect">
            <a:avLst/>
          </a:prstGeom>
          <a:noFill/>
          <a:ln/>
        </p:spPr>
        <p:txBody>
          <a:bodyPr wrap="square" rtlCol="0" anchor="ctr"/>
          <a:lstStyle/>
          <a:p>
            <a:pPr marL="0" indent="0">
              <a:buNone/>
            </a:pPr>
            <a:r>
              <a:rPr lang="en-US" sz="1150" dirty="0">
                <a:solidFill>
                  <a:srgbClr val="2A2A2A"/>
                </a:solidFill>
                <a:latin typeface="Calibri" pitchFamily="34" charset="0"/>
                <a:ea typeface="Calibri" pitchFamily="34" charset="-122"/>
                <a:cs typeface="Calibri" pitchFamily="34" charset="-120"/>
              </a:rPr>
              <a:t>Search Instagram / Telegram</a:t>
            </a:r>
            <a:endParaRPr lang="en-US" sz="1150" dirty="0"/>
          </a:p>
        </p:txBody>
      </p:sp>
      <p:sp>
        <p:nvSpPr>
          <p:cNvPr id="16" name="Text 14"/>
          <p:cNvSpPr/>
          <p:nvPr/>
        </p:nvSpPr>
        <p:spPr>
          <a:xfrm>
            <a:off x="3086100" y="3401568"/>
            <a:ext cx="274320" cy="146304"/>
          </a:xfrm>
          <a:prstGeom prst="rect">
            <a:avLst/>
          </a:prstGeom>
          <a:noFill/>
          <a:ln/>
        </p:spPr>
        <p:txBody>
          <a:bodyPr wrap="square" rtlCol="0" anchor="ctr"/>
          <a:lstStyle/>
          <a:p>
            <a:pPr marL="0" indent="0" algn="ctr">
              <a:buNone/>
            </a:pPr>
            <a:r>
              <a:rPr lang="en-US" sz="1100" dirty="0">
                <a:solidFill>
                  <a:srgbClr val="6B6B6B"/>
                </a:solidFill>
              </a:rPr>
              <a:t>↓</a:t>
            </a:r>
            <a:endParaRPr lang="en-US" sz="1100" dirty="0"/>
          </a:p>
        </p:txBody>
      </p:sp>
      <p:sp>
        <p:nvSpPr>
          <p:cNvPr id="17" name="Shape 15"/>
          <p:cNvSpPr/>
          <p:nvPr/>
        </p:nvSpPr>
        <p:spPr>
          <a:xfrm>
            <a:off x="822960" y="3566160"/>
            <a:ext cx="4800600" cy="310896"/>
          </a:xfrm>
          <a:prstGeom prst="roundRect">
            <a:avLst>
              <a:gd name="adj" fmla="val 14706"/>
            </a:avLst>
          </a:prstGeom>
          <a:solidFill>
            <a:srgbClr val="FFFFFF"/>
          </a:solidFill>
          <a:ln w="9525">
            <a:solidFill>
              <a:srgbClr val="DDDDDD"/>
            </a:solidFill>
            <a:prstDash val="solid"/>
          </a:ln>
        </p:spPr>
      </p:sp>
      <p:sp>
        <p:nvSpPr>
          <p:cNvPr id="18" name="Text 16"/>
          <p:cNvSpPr/>
          <p:nvPr/>
        </p:nvSpPr>
        <p:spPr>
          <a:xfrm>
            <a:off x="960120" y="3566160"/>
            <a:ext cx="4526280" cy="310896"/>
          </a:xfrm>
          <a:prstGeom prst="rect">
            <a:avLst/>
          </a:prstGeom>
          <a:noFill/>
          <a:ln/>
        </p:spPr>
        <p:txBody>
          <a:bodyPr wrap="square" rtlCol="0" anchor="ctr"/>
          <a:lstStyle/>
          <a:p>
            <a:pPr marL="0" indent="0">
              <a:buNone/>
            </a:pPr>
            <a:r>
              <a:rPr lang="en-US" sz="1150" dirty="0">
                <a:solidFill>
                  <a:srgbClr val="2A2A2A"/>
                </a:solidFill>
                <a:latin typeface="Calibri" pitchFamily="34" charset="0"/>
                <a:ea typeface="Calibri" pitchFamily="34" charset="-122"/>
                <a:cs typeface="Calibri" pitchFamily="34" charset="-120"/>
              </a:rPr>
              <a:t>Contact Seller</a:t>
            </a:r>
            <a:endParaRPr lang="en-US" sz="1150" dirty="0"/>
          </a:p>
        </p:txBody>
      </p:sp>
      <p:sp>
        <p:nvSpPr>
          <p:cNvPr id="19" name="Text 17"/>
          <p:cNvSpPr/>
          <p:nvPr/>
        </p:nvSpPr>
        <p:spPr>
          <a:xfrm>
            <a:off x="3086100" y="3858768"/>
            <a:ext cx="274320" cy="146304"/>
          </a:xfrm>
          <a:prstGeom prst="rect">
            <a:avLst/>
          </a:prstGeom>
          <a:noFill/>
          <a:ln/>
        </p:spPr>
        <p:txBody>
          <a:bodyPr wrap="square" rtlCol="0" anchor="ctr"/>
          <a:lstStyle/>
          <a:p>
            <a:pPr marL="0" indent="0" algn="ctr">
              <a:buNone/>
            </a:pPr>
            <a:r>
              <a:rPr lang="en-US" sz="1100" dirty="0">
                <a:solidFill>
                  <a:srgbClr val="6B6B6B"/>
                </a:solidFill>
              </a:rPr>
              <a:t>↓</a:t>
            </a:r>
            <a:endParaRPr lang="en-US" sz="1100" dirty="0"/>
          </a:p>
        </p:txBody>
      </p:sp>
      <p:sp>
        <p:nvSpPr>
          <p:cNvPr id="20" name="Shape 18"/>
          <p:cNvSpPr/>
          <p:nvPr/>
        </p:nvSpPr>
        <p:spPr>
          <a:xfrm>
            <a:off x="822960" y="4023360"/>
            <a:ext cx="4800600" cy="310896"/>
          </a:xfrm>
          <a:prstGeom prst="roundRect">
            <a:avLst>
              <a:gd name="adj" fmla="val 14706"/>
            </a:avLst>
          </a:prstGeom>
          <a:solidFill>
            <a:srgbClr val="FFFFFF"/>
          </a:solidFill>
          <a:ln w="9525">
            <a:solidFill>
              <a:srgbClr val="DDDDDD"/>
            </a:solidFill>
            <a:prstDash val="solid"/>
          </a:ln>
        </p:spPr>
      </p:sp>
      <p:sp>
        <p:nvSpPr>
          <p:cNvPr id="21" name="Text 19"/>
          <p:cNvSpPr/>
          <p:nvPr/>
        </p:nvSpPr>
        <p:spPr>
          <a:xfrm>
            <a:off x="960120" y="4023360"/>
            <a:ext cx="4526280" cy="310896"/>
          </a:xfrm>
          <a:prstGeom prst="rect">
            <a:avLst/>
          </a:prstGeom>
          <a:noFill/>
          <a:ln/>
        </p:spPr>
        <p:txBody>
          <a:bodyPr wrap="square" rtlCol="0" anchor="ctr"/>
          <a:lstStyle/>
          <a:p>
            <a:pPr marL="0" indent="0">
              <a:buNone/>
            </a:pPr>
            <a:r>
              <a:rPr lang="en-US" sz="1150" dirty="0">
                <a:solidFill>
                  <a:srgbClr val="2A2A2A"/>
                </a:solidFill>
                <a:latin typeface="Calibri" pitchFamily="34" charset="0"/>
                <a:ea typeface="Calibri" pitchFamily="34" charset="-122"/>
                <a:cs typeface="Calibri" pitchFamily="34" charset="-120"/>
              </a:rPr>
              <a:t>Meet on Campus</a:t>
            </a:r>
            <a:endParaRPr lang="en-US" sz="1150" dirty="0"/>
          </a:p>
        </p:txBody>
      </p:sp>
      <p:sp>
        <p:nvSpPr>
          <p:cNvPr id="22" name="Text 20"/>
          <p:cNvSpPr/>
          <p:nvPr/>
        </p:nvSpPr>
        <p:spPr>
          <a:xfrm>
            <a:off x="3086100" y="4315968"/>
            <a:ext cx="274320" cy="146304"/>
          </a:xfrm>
          <a:prstGeom prst="rect">
            <a:avLst/>
          </a:prstGeom>
          <a:noFill/>
          <a:ln/>
        </p:spPr>
        <p:txBody>
          <a:bodyPr wrap="square" rtlCol="0" anchor="ctr"/>
          <a:lstStyle/>
          <a:p>
            <a:pPr marL="0" indent="0" algn="ctr">
              <a:buNone/>
            </a:pPr>
            <a:r>
              <a:rPr lang="en-US" sz="1100" dirty="0">
                <a:solidFill>
                  <a:srgbClr val="6B6B6B"/>
                </a:solidFill>
              </a:rPr>
              <a:t>↓</a:t>
            </a:r>
            <a:endParaRPr lang="en-US" sz="1100" dirty="0"/>
          </a:p>
        </p:txBody>
      </p:sp>
      <p:sp>
        <p:nvSpPr>
          <p:cNvPr id="23" name="Shape 21"/>
          <p:cNvSpPr/>
          <p:nvPr/>
        </p:nvSpPr>
        <p:spPr>
          <a:xfrm>
            <a:off x="822960" y="4480560"/>
            <a:ext cx="4800600" cy="310896"/>
          </a:xfrm>
          <a:prstGeom prst="roundRect">
            <a:avLst>
              <a:gd name="adj" fmla="val 14706"/>
            </a:avLst>
          </a:prstGeom>
          <a:solidFill>
            <a:srgbClr val="FFFFFF"/>
          </a:solidFill>
          <a:ln w="9525">
            <a:solidFill>
              <a:srgbClr val="DDDDDD"/>
            </a:solidFill>
            <a:prstDash val="solid"/>
          </a:ln>
        </p:spPr>
      </p:sp>
      <p:sp>
        <p:nvSpPr>
          <p:cNvPr id="24" name="Text 22"/>
          <p:cNvSpPr/>
          <p:nvPr/>
        </p:nvSpPr>
        <p:spPr>
          <a:xfrm>
            <a:off x="960120" y="4480560"/>
            <a:ext cx="4526280" cy="310896"/>
          </a:xfrm>
          <a:prstGeom prst="rect">
            <a:avLst/>
          </a:prstGeom>
          <a:noFill/>
          <a:ln/>
        </p:spPr>
        <p:txBody>
          <a:bodyPr wrap="square" rtlCol="0" anchor="ctr"/>
          <a:lstStyle/>
          <a:p>
            <a:pPr marL="0" indent="0">
              <a:buNone/>
            </a:pPr>
            <a:r>
              <a:rPr lang="en-US" sz="1150" dirty="0">
                <a:solidFill>
                  <a:srgbClr val="2A2A2A"/>
                </a:solidFill>
                <a:latin typeface="Calibri" pitchFamily="34" charset="0"/>
                <a:ea typeface="Calibri" pitchFamily="34" charset="-122"/>
                <a:cs typeface="Calibri" pitchFamily="34" charset="-120"/>
              </a:rPr>
              <a:t>Exchange Completed</a:t>
            </a:r>
            <a:endParaRPr lang="en-US" sz="1150" dirty="0"/>
          </a:p>
        </p:txBody>
      </p:sp>
      <p:sp>
        <p:nvSpPr>
          <p:cNvPr id="25" name="Text 23"/>
          <p:cNvSpPr/>
          <p:nvPr/>
        </p:nvSpPr>
        <p:spPr>
          <a:xfrm>
            <a:off x="822960" y="4983480"/>
            <a:ext cx="4800600" cy="274320"/>
          </a:xfrm>
          <a:prstGeom prst="rect">
            <a:avLst/>
          </a:prstGeom>
          <a:noFill/>
          <a:ln/>
        </p:spPr>
        <p:txBody>
          <a:bodyPr wrap="square"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Problems:</a:t>
            </a:r>
            <a:endParaRPr lang="en-US" sz="1200" dirty="0"/>
          </a:p>
        </p:txBody>
      </p:sp>
      <p:sp>
        <p:nvSpPr>
          <p:cNvPr id="26" name="Text 24"/>
          <p:cNvSpPr/>
          <p:nvPr/>
        </p:nvSpPr>
        <p:spPr>
          <a:xfrm>
            <a:off x="822960" y="5276088"/>
            <a:ext cx="4800600" cy="256032"/>
          </a:xfrm>
          <a:prstGeom prst="rect">
            <a:avLst/>
          </a:prstGeom>
          <a:noFill/>
          <a:ln/>
        </p:spPr>
        <p:txBody>
          <a:bodyPr wrap="square" rtlCol="0" anchor="ctr"/>
          <a:lstStyle/>
          <a:p>
            <a:pPr marL="0" indent="0">
              <a:buNone/>
            </a:pPr>
            <a:r>
              <a:rPr lang="en-US" sz="1100" dirty="0">
                <a:solidFill>
                  <a:srgbClr val="6B6B6B"/>
                </a:solidFill>
                <a:latin typeface="Calibri" pitchFamily="34" charset="0"/>
                <a:ea typeface="Calibri" pitchFamily="34" charset="-122"/>
                <a:cs typeface="Calibri" pitchFamily="34" charset="-120"/>
              </a:rPr>
              <a:t>•  Information scattered</a:t>
            </a:r>
            <a:endParaRPr lang="en-US" sz="1100" dirty="0"/>
          </a:p>
        </p:txBody>
      </p:sp>
      <p:sp>
        <p:nvSpPr>
          <p:cNvPr id="27" name="Text 25"/>
          <p:cNvSpPr/>
          <p:nvPr/>
        </p:nvSpPr>
        <p:spPr>
          <a:xfrm>
            <a:off x="822960" y="5532120"/>
            <a:ext cx="4800600" cy="256032"/>
          </a:xfrm>
          <a:prstGeom prst="rect">
            <a:avLst/>
          </a:prstGeom>
          <a:noFill/>
          <a:ln/>
        </p:spPr>
        <p:txBody>
          <a:bodyPr wrap="square" rtlCol="0" anchor="ctr"/>
          <a:lstStyle/>
          <a:p>
            <a:pPr marL="0" indent="0">
              <a:buNone/>
            </a:pPr>
            <a:r>
              <a:rPr lang="en-US" sz="1100" dirty="0">
                <a:solidFill>
                  <a:srgbClr val="6B6B6B"/>
                </a:solidFill>
                <a:latin typeface="Calibri" pitchFamily="34" charset="0"/>
                <a:ea typeface="Calibri" pitchFamily="34" charset="-122"/>
                <a:cs typeface="Calibri" pitchFamily="34" charset="-120"/>
              </a:rPr>
              <a:t>•  No verification, no structured categories</a:t>
            </a:r>
            <a:endParaRPr lang="en-US" sz="1100" dirty="0"/>
          </a:p>
        </p:txBody>
      </p:sp>
      <p:sp>
        <p:nvSpPr>
          <p:cNvPr id="28" name="Text 26"/>
          <p:cNvSpPr/>
          <p:nvPr/>
        </p:nvSpPr>
        <p:spPr>
          <a:xfrm>
            <a:off x="822960" y="5788152"/>
            <a:ext cx="4800600" cy="256032"/>
          </a:xfrm>
          <a:prstGeom prst="rect">
            <a:avLst/>
          </a:prstGeom>
          <a:noFill/>
          <a:ln/>
        </p:spPr>
        <p:txBody>
          <a:bodyPr wrap="square" rtlCol="0" anchor="ctr"/>
          <a:lstStyle/>
          <a:p>
            <a:pPr marL="0" indent="0">
              <a:buNone/>
            </a:pPr>
            <a:r>
              <a:rPr lang="en-US" sz="1100" dirty="0">
                <a:solidFill>
                  <a:srgbClr val="6B6B6B"/>
                </a:solidFill>
                <a:latin typeface="Calibri" pitchFamily="34" charset="0"/>
                <a:ea typeface="Calibri" pitchFamily="34" charset="-122"/>
                <a:cs typeface="Calibri" pitchFamily="34" charset="-120"/>
              </a:rPr>
              <a:t>•  No borrowing/rental support</a:t>
            </a:r>
            <a:endParaRPr lang="en-US" sz="1100" dirty="0"/>
          </a:p>
        </p:txBody>
      </p:sp>
      <p:sp>
        <p:nvSpPr>
          <p:cNvPr id="29" name="Shape 27"/>
          <p:cNvSpPr/>
          <p:nvPr/>
        </p:nvSpPr>
        <p:spPr>
          <a:xfrm>
            <a:off x="6263640" y="1051560"/>
            <a:ext cx="5349240" cy="5212080"/>
          </a:xfrm>
          <a:prstGeom prst="roundRect">
            <a:avLst>
              <a:gd name="adj" fmla="val 1404"/>
            </a:avLst>
          </a:prstGeom>
          <a:solidFill>
            <a:srgbClr val="2C5F2D"/>
          </a:solidFill>
          <a:ln/>
        </p:spPr>
      </p:sp>
      <p:sp>
        <p:nvSpPr>
          <p:cNvPr id="30" name="Text 28"/>
          <p:cNvSpPr/>
          <p:nvPr/>
        </p:nvSpPr>
        <p:spPr>
          <a:xfrm>
            <a:off x="6537960" y="1234440"/>
            <a:ext cx="4800600" cy="365760"/>
          </a:xfrm>
          <a:prstGeom prst="rect">
            <a:avLst/>
          </a:prstGeom>
          <a:noFill/>
          <a:ln/>
        </p:spPr>
        <p:txBody>
          <a:bodyPr wrap="square" rtlCol="0" anchor="ctr"/>
          <a:lstStyle/>
          <a:p>
            <a:pPr marL="0" indent="0">
              <a:buNone/>
            </a:pPr>
            <a:r>
              <a:rPr lang="en-US" sz="1400" b="1" kern="0" spc="100" dirty="0">
                <a:solidFill>
                  <a:srgbClr val="97BC62"/>
                </a:solidFill>
                <a:latin typeface="Calibri" pitchFamily="34" charset="0"/>
                <a:ea typeface="Calibri" pitchFamily="34" charset="-122"/>
                <a:cs typeface="Calibri" pitchFamily="34" charset="-120"/>
              </a:rPr>
              <a:t>PROPOSED WORKFLOW (TO-BE)</a:t>
            </a:r>
            <a:endParaRPr lang="en-US" sz="1400" dirty="0"/>
          </a:p>
        </p:txBody>
      </p:sp>
      <p:sp>
        <p:nvSpPr>
          <p:cNvPr id="31" name="Shape 29"/>
          <p:cNvSpPr/>
          <p:nvPr/>
        </p:nvSpPr>
        <p:spPr>
          <a:xfrm>
            <a:off x="6537960" y="1737360"/>
            <a:ext cx="4800600" cy="310896"/>
          </a:xfrm>
          <a:prstGeom prst="roundRect">
            <a:avLst>
              <a:gd name="adj" fmla="val 14706"/>
            </a:avLst>
          </a:prstGeom>
          <a:solidFill>
            <a:srgbClr val="1E4020"/>
          </a:solidFill>
          <a:ln/>
        </p:spPr>
      </p:sp>
      <p:sp>
        <p:nvSpPr>
          <p:cNvPr id="32" name="Text 30"/>
          <p:cNvSpPr/>
          <p:nvPr/>
        </p:nvSpPr>
        <p:spPr>
          <a:xfrm>
            <a:off x="6675120" y="1737360"/>
            <a:ext cx="4526280" cy="310896"/>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Student Registers → University Verification</a:t>
            </a:r>
            <a:endParaRPr lang="en-US" sz="1100" dirty="0"/>
          </a:p>
        </p:txBody>
      </p:sp>
      <p:sp>
        <p:nvSpPr>
          <p:cNvPr id="33" name="Text 31"/>
          <p:cNvSpPr/>
          <p:nvPr/>
        </p:nvSpPr>
        <p:spPr>
          <a:xfrm>
            <a:off x="8801100" y="2029968"/>
            <a:ext cx="274320" cy="146304"/>
          </a:xfrm>
          <a:prstGeom prst="rect">
            <a:avLst/>
          </a:prstGeom>
          <a:noFill/>
          <a:ln/>
        </p:spPr>
        <p:txBody>
          <a:bodyPr wrap="square" rtlCol="0" anchor="ctr"/>
          <a:lstStyle/>
          <a:p>
            <a:pPr marL="0" indent="0" algn="ctr">
              <a:buNone/>
            </a:pPr>
            <a:r>
              <a:rPr lang="en-US" sz="1100" dirty="0">
                <a:solidFill>
                  <a:srgbClr val="97BC62"/>
                </a:solidFill>
              </a:rPr>
              <a:t>↓</a:t>
            </a:r>
            <a:endParaRPr lang="en-US" sz="1100" dirty="0"/>
          </a:p>
        </p:txBody>
      </p:sp>
      <p:sp>
        <p:nvSpPr>
          <p:cNvPr id="34" name="Shape 32"/>
          <p:cNvSpPr/>
          <p:nvPr/>
        </p:nvSpPr>
        <p:spPr>
          <a:xfrm>
            <a:off x="6537960" y="2194560"/>
            <a:ext cx="4800600" cy="310896"/>
          </a:xfrm>
          <a:prstGeom prst="roundRect">
            <a:avLst>
              <a:gd name="adj" fmla="val 14706"/>
            </a:avLst>
          </a:prstGeom>
          <a:solidFill>
            <a:srgbClr val="1E4020"/>
          </a:solidFill>
          <a:ln/>
        </p:spPr>
      </p:sp>
      <p:sp>
        <p:nvSpPr>
          <p:cNvPr id="35" name="Text 33"/>
          <p:cNvSpPr/>
          <p:nvPr/>
        </p:nvSpPr>
        <p:spPr>
          <a:xfrm>
            <a:off x="6675120" y="2194560"/>
            <a:ext cx="4526280" cy="310896"/>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Browse Resources</a:t>
            </a:r>
            <a:endParaRPr lang="en-US" sz="1100" dirty="0"/>
          </a:p>
        </p:txBody>
      </p:sp>
      <p:sp>
        <p:nvSpPr>
          <p:cNvPr id="36" name="Text 34"/>
          <p:cNvSpPr/>
          <p:nvPr/>
        </p:nvSpPr>
        <p:spPr>
          <a:xfrm>
            <a:off x="8801100" y="2487168"/>
            <a:ext cx="274320" cy="146304"/>
          </a:xfrm>
          <a:prstGeom prst="rect">
            <a:avLst/>
          </a:prstGeom>
          <a:noFill/>
          <a:ln/>
        </p:spPr>
        <p:txBody>
          <a:bodyPr wrap="square" rtlCol="0" anchor="ctr"/>
          <a:lstStyle/>
          <a:p>
            <a:pPr marL="0" indent="0" algn="ctr">
              <a:buNone/>
            </a:pPr>
            <a:r>
              <a:rPr lang="en-US" sz="1100" dirty="0">
                <a:solidFill>
                  <a:srgbClr val="97BC62"/>
                </a:solidFill>
              </a:rPr>
              <a:t>↓</a:t>
            </a:r>
            <a:endParaRPr lang="en-US" sz="1100" dirty="0"/>
          </a:p>
        </p:txBody>
      </p:sp>
      <p:sp>
        <p:nvSpPr>
          <p:cNvPr id="37" name="Shape 35"/>
          <p:cNvSpPr/>
          <p:nvPr/>
        </p:nvSpPr>
        <p:spPr>
          <a:xfrm>
            <a:off x="6537960" y="2651760"/>
            <a:ext cx="4800600" cy="310896"/>
          </a:xfrm>
          <a:prstGeom prst="roundRect">
            <a:avLst>
              <a:gd name="adj" fmla="val 14706"/>
            </a:avLst>
          </a:prstGeom>
          <a:solidFill>
            <a:srgbClr val="1E4020"/>
          </a:solidFill>
          <a:ln/>
        </p:spPr>
      </p:sp>
      <p:sp>
        <p:nvSpPr>
          <p:cNvPr id="38" name="Text 36"/>
          <p:cNvSpPr/>
          <p:nvPr/>
        </p:nvSpPr>
        <p:spPr>
          <a:xfrm>
            <a:off x="6675120" y="2651760"/>
            <a:ext cx="4526280" cy="310896"/>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Need Item? Search &amp; Filters   |   List Item? Upload Details</a:t>
            </a:r>
            <a:endParaRPr lang="en-US" sz="1100" dirty="0"/>
          </a:p>
        </p:txBody>
      </p:sp>
      <p:sp>
        <p:nvSpPr>
          <p:cNvPr id="39" name="Text 37"/>
          <p:cNvSpPr/>
          <p:nvPr/>
        </p:nvSpPr>
        <p:spPr>
          <a:xfrm>
            <a:off x="8801100" y="2944368"/>
            <a:ext cx="274320" cy="146304"/>
          </a:xfrm>
          <a:prstGeom prst="rect">
            <a:avLst/>
          </a:prstGeom>
          <a:noFill/>
          <a:ln/>
        </p:spPr>
        <p:txBody>
          <a:bodyPr wrap="square" rtlCol="0" anchor="ctr"/>
          <a:lstStyle/>
          <a:p>
            <a:pPr marL="0" indent="0" algn="ctr">
              <a:buNone/>
            </a:pPr>
            <a:r>
              <a:rPr lang="en-US" sz="1100" dirty="0">
                <a:solidFill>
                  <a:srgbClr val="97BC62"/>
                </a:solidFill>
              </a:rPr>
              <a:t>↓</a:t>
            </a:r>
            <a:endParaRPr lang="en-US" sz="1100" dirty="0"/>
          </a:p>
        </p:txBody>
      </p:sp>
      <p:sp>
        <p:nvSpPr>
          <p:cNvPr id="40" name="Shape 38"/>
          <p:cNvSpPr/>
          <p:nvPr/>
        </p:nvSpPr>
        <p:spPr>
          <a:xfrm>
            <a:off x="6537960" y="3108960"/>
            <a:ext cx="4800600" cy="310896"/>
          </a:xfrm>
          <a:prstGeom prst="roundRect">
            <a:avLst>
              <a:gd name="adj" fmla="val 14706"/>
            </a:avLst>
          </a:prstGeom>
          <a:solidFill>
            <a:srgbClr val="1E4020"/>
          </a:solidFill>
          <a:ln/>
        </p:spPr>
      </p:sp>
      <p:sp>
        <p:nvSpPr>
          <p:cNvPr id="41" name="Text 39"/>
          <p:cNvSpPr/>
          <p:nvPr/>
        </p:nvSpPr>
        <p:spPr>
          <a:xfrm>
            <a:off x="6675120" y="3108960"/>
            <a:ext cx="4526280" cy="310896"/>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Chat &amp; Negotiate</a:t>
            </a:r>
            <a:endParaRPr lang="en-US" sz="1100" dirty="0"/>
          </a:p>
        </p:txBody>
      </p:sp>
      <p:sp>
        <p:nvSpPr>
          <p:cNvPr id="42" name="Text 40"/>
          <p:cNvSpPr/>
          <p:nvPr/>
        </p:nvSpPr>
        <p:spPr>
          <a:xfrm>
            <a:off x="8801100" y="3401568"/>
            <a:ext cx="274320" cy="146304"/>
          </a:xfrm>
          <a:prstGeom prst="rect">
            <a:avLst/>
          </a:prstGeom>
          <a:noFill/>
          <a:ln/>
        </p:spPr>
        <p:txBody>
          <a:bodyPr wrap="square" rtlCol="0" anchor="ctr"/>
          <a:lstStyle/>
          <a:p>
            <a:pPr marL="0" indent="0" algn="ctr">
              <a:buNone/>
            </a:pPr>
            <a:r>
              <a:rPr lang="en-US" sz="1100" dirty="0">
                <a:solidFill>
                  <a:srgbClr val="97BC62"/>
                </a:solidFill>
              </a:rPr>
              <a:t>↓</a:t>
            </a:r>
            <a:endParaRPr lang="en-US" sz="1100" dirty="0"/>
          </a:p>
        </p:txBody>
      </p:sp>
      <p:sp>
        <p:nvSpPr>
          <p:cNvPr id="43" name="Shape 41"/>
          <p:cNvSpPr/>
          <p:nvPr/>
        </p:nvSpPr>
        <p:spPr>
          <a:xfrm>
            <a:off x="6537960" y="3566160"/>
            <a:ext cx="4800600" cy="310896"/>
          </a:xfrm>
          <a:prstGeom prst="roundRect">
            <a:avLst>
              <a:gd name="adj" fmla="val 14706"/>
            </a:avLst>
          </a:prstGeom>
          <a:solidFill>
            <a:srgbClr val="1E4020"/>
          </a:solidFill>
          <a:ln/>
        </p:spPr>
      </p:sp>
      <p:sp>
        <p:nvSpPr>
          <p:cNvPr id="44" name="Text 42"/>
          <p:cNvSpPr/>
          <p:nvPr/>
        </p:nvSpPr>
        <p:spPr>
          <a:xfrm>
            <a:off x="6675120" y="3566160"/>
            <a:ext cx="4526280" cy="310896"/>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Buy / Sell / Rent / Borrow / Donate</a:t>
            </a:r>
            <a:endParaRPr lang="en-US" sz="1100" dirty="0"/>
          </a:p>
        </p:txBody>
      </p:sp>
      <p:sp>
        <p:nvSpPr>
          <p:cNvPr id="45" name="Text 43"/>
          <p:cNvSpPr/>
          <p:nvPr/>
        </p:nvSpPr>
        <p:spPr>
          <a:xfrm>
            <a:off x="8801100" y="3858768"/>
            <a:ext cx="274320" cy="146304"/>
          </a:xfrm>
          <a:prstGeom prst="rect">
            <a:avLst/>
          </a:prstGeom>
          <a:noFill/>
          <a:ln/>
        </p:spPr>
        <p:txBody>
          <a:bodyPr wrap="square" rtlCol="0" anchor="ctr"/>
          <a:lstStyle/>
          <a:p>
            <a:pPr marL="0" indent="0" algn="ctr">
              <a:buNone/>
            </a:pPr>
            <a:r>
              <a:rPr lang="en-US" sz="1100" dirty="0">
                <a:solidFill>
                  <a:srgbClr val="97BC62"/>
                </a:solidFill>
              </a:rPr>
              <a:t>↓</a:t>
            </a:r>
            <a:endParaRPr lang="en-US" sz="1100" dirty="0"/>
          </a:p>
        </p:txBody>
      </p:sp>
      <p:sp>
        <p:nvSpPr>
          <p:cNvPr id="46" name="Shape 44"/>
          <p:cNvSpPr/>
          <p:nvPr/>
        </p:nvSpPr>
        <p:spPr>
          <a:xfrm>
            <a:off x="6537960" y="4023360"/>
            <a:ext cx="4800600" cy="310896"/>
          </a:xfrm>
          <a:prstGeom prst="roundRect">
            <a:avLst>
              <a:gd name="adj" fmla="val 14706"/>
            </a:avLst>
          </a:prstGeom>
          <a:solidFill>
            <a:srgbClr val="1E4020"/>
          </a:solidFill>
          <a:ln/>
        </p:spPr>
      </p:sp>
      <p:sp>
        <p:nvSpPr>
          <p:cNvPr id="47" name="Text 45"/>
          <p:cNvSpPr/>
          <p:nvPr/>
        </p:nvSpPr>
        <p:spPr>
          <a:xfrm>
            <a:off x="6675120" y="4023360"/>
            <a:ext cx="4526280" cy="310896"/>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Campus Pickup</a:t>
            </a:r>
            <a:endParaRPr lang="en-US" sz="1100" dirty="0"/>
          </a:p>
        </p:txBody>
      </p:sp>
      <p:sp>
        <p:nvSpPr>
          <p:cNvPr id="48" name="Text 46"/>
          <p:cNvSpPr/>
          <p:nvPr/>
        </p:nvSpPr>
        <p:spPr>
          <a:xfrm>
            <a:off x="8801100" y="4315968"/>
            <a:ext cx="274320" cy="146304"/>
          </a:xfrm>
          <a:prstGeom prst="rect">
            <a:avLst/>
          </a:prstGeom>
          <a:noFill/>
          <a:ln/>
        </p:spPr>
        <p:txBody>
          <a:bodyPr wrap="square" rtlCol="0" anchor="ctr"/>
          <a:lstStyle/>
          <a:p>
            <a:pPr marL="0" indent="0" algn="ctr">
              <a:buNone/>
            </a:pPr>
            <a:r>
              <a:rPr lang="en-US" sz="1100" dirty="0">
                <a:solidFill>
                  <a:srgbClr val="97BC62"/>
                </a:solidFill>
              </a:rPr>
              <a:t>↓</a:t>
            </a:r>
            <a:endParaRPr lang="en-US" sz="1100" dirty="0"/>
          </a:p>
        </p:txBody>
      </p:sp>
      <p:sp>
        <p:nvSpPr>
          <p:cNvPr id="49" name="Shape 47"/>
          <p:cNvSpPr/>
          <p:nvPr/>
        </p:nvSpPr>
        <p:spPr>
          <a:xfrm>
            <a:off x="6537960" y="4480560"/>
            <a:ext cx="4800600" cy="310896"/>
          </a:xfrm>
          <a:prstGeom prst="roundRect">
            <a:avLst>
              <a:gd name="adj" fmla="val 14706"/>
            </a:avLst>
          </a:prstGeom>
          <a:solidFill>
            <a:srgbClr val="1E4020"/>
          </a:solidFill>
          <a:ln/>
        </p:spPr>
      </p:sp>
      <p:sp>
        <p:nvSpPr>
          <p:cNvPr id="50" name="Text 48"/>
          <p:cNvSpPr/>
          <p:nvPr/>
        </p:nvSpPr>
        <p:spPr>
          <a:xfrm>
            <a:off x="6675120" y="4480560"/>
            <a:ext cx="4526280" cy="310896"/>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Transaction Complete → Rating &amp; Feedback</a:t>
            </a:r>
            <a:endParaRPr lang="en-US" sz="1100" dirty="0"/>
          </a:p>
        </p:txBody>
      </p:sp>
      <p:sp>
        <p:nvSpPr>
          <p:cNvPr id="51" name="Text 49"/>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6B6B"/>
                </a:solidFill>
                <a:latin typeface="Calibri" pitchFamily="34" charset="0"/>
                <a:ea typeface="Calibri" pitchFamily="34" charset="-122"/>
                <a:cs typeface="Calibri" pitchFamily="34" charset="-120"/>
              </a:rPr>
              <a:t>CampusCycle — Project Overview</a:t>
            </a:r>
            <a:endParaRPr lang="en-US" sz="1000" dirty="0"/>
          </a:p>
        </p:txBody>
      </p:sp>
      <p:sp>
        <p:nvSpPr>
          <p:cNvPr id="52" name="Text 50"/>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548640"/>
          </a:xfrm>
          <a:prstGeom prst="rect">
            <a:avLst/>
          </a:prstGeom>
          <a:noFill/>
          <a:ln/>
        </p:spPr>
        <p:txBody>
          <a:bodyPr wrap="square" rtlCol="0" anchor="ctr"/>
          <a:lstStyle/>
          <a:p>
            <a:pPr marL="0" indent="0">
              <a:buNone/>
            </a:pPr>
            <a:r>
              <a:rPr lang="en-US" sz="2800" b="1" dirty="0">
                <a:solidFill>
                  <a:srgbClr val="2C5F2D"/>
                </a:solidFill>
                <a:latin typeface="Cambria" pitchFamily="34" charset="0"/>
                <a:ea typeface="Cambria" pitchFamily="34" charset="-122"/>
                <a:cs typeface="Cambria" pitchFamily="34" charset="-120"/>
              </a:rPr>
              <a:t>What Sets CampusCycle Apart</a:t>
            </a:r>
            <a:endParaRPr lang="en-US" sz="2800" dirty="0"/>
          </a:p>
        </p:txBody>
      </p:sp>
      <p:sp>
        <p:nvSpPr>
          <p:cNvPr id="3" name="Text 1"/>
          <p:cNvSpPr/>
          <p:nvPr/>
        </p:nvSpPr>
        <p:spPr>
          <a:xfrm>
            <a:off x="548640" y="896112"/>
            <a:ext cx="10789920" cy="365760"/>
          </a:xfrm>
          <a:prstGeom prst="rect">
            <a:avLst/>
          </a:prstGeom>
          <a:noFill/>
          <a:ln/>
        </p:spPr>
        <p:txBody>
          <a:bodyPr wrap="square" rtlCol="0" anchor="ctr"/>
          <a:lstStyle/>
          <a:p>
            <a:pPr marL="0" indent="0">
              <a:buNone/>
            </a:pPr>
            <a:r>
              <a:rPr lang="en-US" sz="1300" i="1" dirty="0">
                <a:solidFill>
                  <a:srgbClr val="6B6B6B"/>
                </a:solidFill>
                <a:latin typeface="Calibri" pitchFamily="34" charset="0"/>
                <a:ea typeface="Calibri" pitchFamily="34" charset="-122"/>
                <a:cs typeface="Calibri" pitchFamily="34" charset="-120"/>
              </a:rPr>
              <a:t>Beyond basic buy/sell — the features that make discovery and matching actually work on a campus scale.</a:t>
            </a:r>
            <a:endParaRPr lang="en-US" sz="1300" dirty="0"/>
          </a:p>
        </p:txBody>
      </p:sp>
      <p:sp>
        <p:nvSpPr>
          <p:cNvPr id="4" name="Shape 2"/>
          <p:cNvSpPr/>
          <p:nvPr/>
        </p:nvSpPr>
        <p:spPr>
          <a:xfrm>
            <a:off x="548640" y="1463040"/>
            <a:ext cx="2606040" cy="2286000"/>
          </a:xfrm>
          <a:prstGeom prst="roundRect">
            <a:avLst>
              <a:gd name="adj" fmla="val 3200"/>
            </a:avLst>
          </a:prstGeom>
          <a:solidFill>
            <a:srgbClr val="F5F5F5"/>
          </a:solidFill>
          <a:ln/>
        </p:spPr>
      </p:sp>
      <p:sp>
        <p:nvSpPr>
          <p:cNvPr id="5" name="Shape 3"/>
          <p:cNvSpPr/>
          <p:nvPr/>
        </p:nvSpPr>
        <p:spPr>
          <a:xfrm>
            <a:off x="1559052" y="1664208"/>
            <a:ext cx="585216" cy="585216"/>
          </a:xfrm>
          <a:prstGeom prst="ellipse">
            <a:avLst/>
          </a:prstGeom>
          <a:solidFill>
            <a:srgbClr val="2C5F2D"/>
          </a:solidFill>
          <a:ln/>
        </p:spPr>
      </p:sp>
      <p:pic>
        <p:nvPicPr>
          <p:cNvPr id="6" name="Image 0" descr="/home/claude/ppt/icons_bullhorn_FFFFFF.png"/>
          <p:cNvPicPr>
            <a:picLocks noChangeAspect="1"/>
          </p:cNvPicPr>
          <p:nvPr/>
        </p:nvPicPr>
        <p:blipFill>
          <a:blip r:embed="rId3"/>
          <a:stretch>
            <a:fillRect/>
          </a:stretch>
        </p:blipFill>
        <p:spPr>
          <a:xfrm>
            <a:off x="1677924" y="1783080"/>
            <a:ext cx="347472" cy="347472"/>
          </a:xfrm>
          <a:prstGeom prst="rect">
            <a:avLst/>
          </a:prstGeom>
        </p:spPr>
      </p:pic>
      <p:sp>
        <p:nvSpPr>
          <p:cNvPr id="7" name="Text 4"/>
          <p:cNvSpPr/>
          <p:nvPr/>
        </p:nvSpPr>
        <p:spPr>
          <a:xfrm>
            <a:off x="658368" y="2377440"/>
            <a:ext cx="2386584" cy="457200"/>
          </a:xfrm>
          <a:prstGeom prst="rect">
            <a:avLst/>
          </a:prstGeom>
          <a:noFill/>
          <a:ln/>
        </p:spPr>
        <p:txBody>
          <a:bodyPr wrap="square" rtlCol="0" anchor="t"/>
          <a:lstStyle/>
          <a:p>
            <a:pPr marL="0" indent="0" algn="ctr">
              <a:buNone/>
            </a:pPr>
            <a:r>
              <a:rPr lang="en-US" sz="1250" b="1" dirty="0">
                <a:solidFill>
                  <a:srgbClr val="2A2A2A"/>
                </a:solidFill>
                <a:latin typeface="Calibri" pitchFamily="34" charset="0"/>
                <a:ea typeface="Calibri" pitchFamily="34" charset="-122"/>
                <a:cs typeface="Calibri" pitchFamily="34" charset="-120"/>
              </a:rPr>
              <a:t>Resource Requests</a:t>
            </a:r>
            <a:endParaRPr lang="en-US" sz="1250" dirty="0"/>
          </a:p>
        </p:txBody>
      </p:sp>
      <p:sp>
        <p:nvSpPr>
          <p:cNvPr id="8" name="Text 5"/>
          <p:cNvSpPr/>
          <p:nvPr/>
        </p:nvSpPr>
        <p:spPr>
          <a:xfrm>
            <a:off x="685800" y="2816352"/>
            <a:ext cx="2331720" cy="868680"/>
          </a:xfrm>
          <a:prstGeom prst="rect">
            <a:avLst/>
          </a:prstGeom>
          <a:noFill/>
          <a:ln/>
        </p:spPr>
        <p:txBody>
          <a:bodyPr wrap="square" rtlCol="0" anchor="t"/>
          <a:lstStyle/>
          <a:p>
            <a:pPr marL="0" indent="0" algn="ctr">
              <a:lnSpc>
                <a:spcPct val="110000"/>
              </a:lnSpc>
              <a:buNone/>
            </a:pPr>
            <a:r>
              <a:rPr lang="en-US" sz="1000" dirty="0">
                <a:solidFill>
                  <a:srgbClr val="6B6B6B"/>
                </a:solidFill>
                <a:latin typeface="Calibri" pitchFamily="34" charset="0"/>
                <a:ea typeface="Calibri" pitchFamily="34" charset="-122"/>
                <a:cs typeface="Calibri" pitchFamily="34" charset="-120"/>
              </a:rPr>
              <a:t>Post what you need — owners get notified instead of you searching endlessly.</a:t>
            </a:r>
            <a:endParaRPr lang="en-US" sz="1000" dirty="0"/>
          </a:p>
        </p:txBody>
      </p:sp>
      <p:sp>
        <p:nvSpPr>
          <p:cNvPr id="9" name="Shape 6"/>
          <p:cNvSpPr/>
          <p:nvPr/>
        </p:nvSpPr>
        <p:spPr>
          <a:xfrm>
            <a:off x="3337560" y="1463040"/>
            <a:ext cx="2606040" cy="2286000"/>
          </a:xfrm>
          <a:prstGeom prst="roundRect">
            <a:avLst>
              <a:gd name="adj" fmla="val 3200"/>
            </a:avLst>
          </a:prstGeom>
          <a:solidFill>
            <a:srgbClr val="F5F5F5"/>
          </a:solidFill>
          <a:ln/>
        </p:spPr>
      </p:sp>
      <p:sp>
        <p:nvSpPr>
          <p:cNvPr id="10" name="Shape 7"/>
          <p:cNvSpPr/>
          <p:nvPr/>
        </p:nvSpPr>
        <p:spPr>
          <a:xfrm>
            <a:off x="4347972" y="1664208"/>
            <a:ext cx="585216" cy="585216"/>
          </a:xfrm>
          <a:prstGeom prst="ellipse">
            <a:avLst/>
          </a:prstGeom>
          <a:solidFill>
            <a:srgbClr val="2C5F2D"/>
          </a:solidFill>
          <a:ln/>
        </p:spPr>
      </p:sp>
      <p:pic>
        <p:nvPicPr>
          <p:cNvPr id="11" name="Image 1" descr="/home/claude/ppt/icons_tag_FFFFFF.png"/>
          <p:cNvPicPr>
            <a:picLocks noChangeAspect="1"/>
          </p:cNvPicPr>
          <p:nvPr/>
        </p:nvPicPr>
        <p:blipFill>
          <a:blip r:embed="rId4"/>
          <a:stretch>
            <a:fillRect/>
          </a:stretch>
        </p:blipFill>
        <p:spPr>
          <a:xfrm>
            <a:off x="4466844" y="1783080"/>
            <a:ext cx="347472" cy="347472"/>
          </a:xfrm>
          <a:prstGeom prst="rect">
            <a:avLst/>
          </a:prstGeom>
        </p:spPr>
      </p:pic>
      <p:sp>
        <p:nvSpPr>
          <p:cNvPr id="12" name="Text 8"/>
          <p:cNvSpPr/>
          <p:nvPr/>
        </p:nvSpPr>
        <p:spPr>
          <a:xfrm>
            <a:off x="3447288" y="2377440"/>
            <a:ext cx="2386584" cy="457200"/>
          </a:xfrm>
          <a:prstGeom prst="rect">
            <a:avLst/>
          </a:prstGeom>
          <a:noFill/>
          <a:ln/>
        </p:spPr>
        <p:txBody>
          <a:bodyPr wrap="square" rtlCol="0" anchor="t"/>
          <a:lstStyle/>
          <a:p>
            <a:pPr marL="0" indent="0" algn="ctr">
              <a:buNone/>
            </a:pPr>
            <a:r>
              <a:rPr lang="en-US" sz="1250" b="1" dirty="0">
                <a:solidFill>
                  <a:srgbClr val="2A2A2A"/>
                </a:solidFill>
                <a:latin typeface="Calibri" pitchFamily="34" charset="0"/>
                <a:ea typeface="Calibri" pitchFamily="34" charset="-122"/>
                <a:cs typeface="Calibri" pitchFamily="34" charset="-120"/>
              </a:rPr>
              <a:t>Tag System</a:t>
            </a:r>
            <a:endParaRPr lang="en-US" sz="1250" dirty="0"/>
          </a:p>
        </p:txBody>
      </p:sp>
      <p:sp>
        <p:nvSpPr>
          <p:cNvPr id="13" name="Text 9"/>
          <p:cNvSpPr/>
          <p:nvPr/>
        </p:nvSpPr>
        <p:spPr>
          <a:xfrm>
            <a:off x="3474720" y="2816352"/>
            <a:ext cx="2331720" cy="868680"/>
          </a:xfrm>
          <a:prstGeom prst="rect">
            <a:avLst/>
          </a:prstGeom>
          <a:noFill/>
          <a:ln/>
        </p:spPr>
        <p:txBody>
          <a:bodyPr wrap="square" rtlCol="0" anchor="t"/>
          <a:lstStyle/>
          <a:p>
            <a:pPr marL="0" indent="0" algn="ctr">
              <a:lnSpc>
                <a:spcPct val="110000"/>
              </a:lnSpc>
              <a:buNone/>
            </a:pPr>
            <a:r>
              <a:rPr lang="en-US" sz="1000" dirty="0">
                <a:solidFill>
                  <a:srgbClr val="6B6B6B"/>
                </a:solidFill>
                <a:latin typeface="Calibri" pitchFamily="34" charset="0"/>
                <a:ea typeface="Calibri" pitchFamily="34" charset="-122"/>
                <a:cs typeface="Calibri" pitchFamily="34" charset="-120"/>
              </a:rPr>
              <a:t>Every item is tagged (e.g. #labcoat) for precise, structured search.</a:t>
            </a:r>
            <a:endParaRPr lang="en-US" sz="1000" dirty="0"/>
          </a:p>
        </p:txBody>
      </p:sp>
      <p:sp>
        <p:nvSpPr>
          <p:cNvPr id="14" name="Shape 10"/>
          <p:cNvSpPr/>
          <p:nvPr/>
        </p:nvSpPr>
        <p:spPr>
          <a:xfrm>
            <a:off x="6126480" y="1463040"/>
            <a:ext cx="2606040" cy="2286000"/>
          </a:xfrm>
          <a:prstGeom prst="roundRect">
            <a:avLst>
              <a:gd name="adj" fmla="val 3200"/>
            </a:avLst>
          </a:prstGeom>
          <a:solidFill>
            <a:srgbClr val="F5F5F5"/>
          </a:solidFill>
          <a:ln/>
        </p:spPr>
      </p:sp>
      <p:sp>
        <p:nvSpPr>
          <p:cNvPr id="15" name="Shape 11"/>
          <p:cNvSpPr/>
          <p:nvPr/>
        </p:nvSpPr>
        <p:spPr>
          <a:xfrm>
            <a:off x="7136892" y="1664208"/>
            <a:ext cx="585216" cy="585216"/>
          </a:xfrm>
          <a:prstGeom prst="ellipse">
            <a:avLst/>
          </a:prstGeom>
          <a:solidFill>
            <a:srgbClr val="2C5F2D"/>
          </a:solidFill>
          <a:ln/>
        </p:spPr>
      </p:sp>
      <p:pic>
        <p:nvPicPr>
          <p:cNvPr id="16" name="Image 2" descr="/home/claude/ppt/icons_bell_FFFFFF.png"/>
          <p:cNvPicPr>
            <a:picLocks noChangeAspect="1"/>
          </p:cNvPicPr>
          <p:nvPr/>
        </p:nvPicPr>
        <p:blipFill>
          <a:blip r:embed="rId5"/>
          <a:stretch>
            <a:fillRect/>
          </a:stretch>
        </p:blipFill>
        <p:spPr>
          <a:xfrm>
            <a:off x="7255764" y="1783080"/>
            <a:ext cx="347472" cy="347472"/>
          </a:xfrm>
          <a:prstGeom prst="rect">
            <a:avLst/>
          </a:prstGeom>
        </p:spPr>
      </p:pic>
      <p:sp>
        <p:nvSpPr>
          <p:cNvPr id="17" name="Text 12"/>
          <p:cNvSpPr/>
          <p:nvPr/>
        </p:nvSpPr>
        <p:spPr>
          <a:xfrm>
            <a:off x="6236208" y="2377440"/>
            <a:ext cx="2386584" cy="457200"/>
          </a:xfrm>
          <a:prstGeom prst="rect">
            <a:avLst/>
          </a:prstGeom>
          <a:noFill/>
          <a:ln/>
        </p:spPr>
        <p:txBody>
          <a:bodyPr wrap="square" rtlCol="0" anchor="t"/>
          <a:lstStyle/>
          <a:p>
            <a:pPr marL="0" indent="0" algn="ctr">
              <a:buNone/>
            </a:pPr>
            <a:r>
              <a:rPr lang="en-US" sz="1250" b="1" dirty="0">
                <a:solidFill>
                  <a:srgbClr val="2A2A2A"/>
                </a:solidFill>
                <a:latin typeface="Calibri" pitchFamily="34" charset="0"/>
                <a:ea typeface="Calibri" pitchFamily="34" charset="-122"/>
                <a:cs typeface="Calibri" pitchFamily="34" charset="-120"/>
              </a:rPr>
              <a:t>Follow a Tag</a:t>
            </a:r>
            <a:endParaRPr lang="en-US" sz="1250" dirty="0"/>
          </a:p>
        </p:txBody>
      </p:sp>
      <p:sp>
        <p:nvSpPr>
          <p:cNvPr id="18" name="Text 13"/>
          <p:cNvSpPr/>
          <p:nvPr/>
        </p:nvSpPr>
        <p:spPr>
          <a:xfrm>
            <a:off x="6263640" y="2816352"/>
            <a:ext cx="2331720" cy="868680"/>
          </a:xfrm>
          <a:prstGeom prst="rect">
            <a:avLst/>
          </a:prstGeom>
          <a:noFill/>
          <a:ln/>
        </p:spPr>
        <p:txBody>
          <a:bodyPr wrap="square" rtlCol="0" anchor="t"/>
          <a:lstStyle/>
          <a:p>
            <a:pPr marL="0" indent="0" algn="ctr">
              <a:lnSpc>
                <a:spcPct val="110000"/>
              </a:lnSpc>
              <a:buNone/>
            </a:pPr>
            <a:r>
              <a:rPr lang="en-US" sz="1000" dirty="0">
                <a:solidFill>
                  <a:srgbClr val="6B6B6B"/>
                </a:solidFill>
                <a:latin typeface="Calibri" pitchFamily="34" charset="0"/>
                <a:ea typeface="Calibri" pitchFamily="34" charset="-122"/>
                <a:cs typeface="Calibri" pitchFamily="34" charset="-120"/>
              </a:rPr>
              <a:t>Get notified the moment an item you've been waiting for is finally listed.</a:t>
            </a:r>
            <a:endParaRPr lang="en-US" sz="1000" dirty="0"/>
          </a:p>
        </p:txBody>
      </p:sp>
      <p:sp>
        <p:nvSpPr>
          <p:cNvPr id="19" name="Shape 14"/>
          <p:cNvSpPr/>
          <p:nvPr/>
        </p:nvSpPr>
        <p:spPr>
          <a:xfrm>
            <a:off x="8915400" y="1463040"/>
            <a:ext cx="2606040" cy="2286000"/>
          </a:xfrm>
          <a:prstGeom prst="roundRect">
            <a:avLst>
              <a:gd name="adj" fmla="val 3200"/>
            </a:avLst>
          </a:prstGeom>
          <a:solidFill>
            <a:srgbClr val="F5F5F5"/>
          </a:solidFill>
          <a:ln/>
        </p:spPr>
      </p:sp>
      <p:sp>
        <p:nvSpPr>
          <p:cNvPr id="20" name="Shape 15"/>
          <p:cNvSpPr/>
          <p:nvPr/>
        </p:nvSpPr>
        <p:spPr>
          <a:xfrm>
            <a:off x="9925812" y="1664208"/>
            <a:ext cx="585216" cy="585216"/>
          </a:xfrm>
          <a:prstGeom prst="ellipse">
            <a:avLst/>
          </a:prstGeom>
          <a:solidFill>
            <a:srgbClr val="2C5F2D"/>
          </a:solidFill>
          <a:ln/>
        </p:spPr>
      </p:sp>
      <p:pic>
        <p:nvPicPr>
          <p:cNvPr id="21" name="Image 3" descr="/home/claude/ppt/icons_sitemap_FFFFFF.png"/>
          <p:cNvPicPr>
            <a:picLocks noChangeAspect="1"/>
          </p:cNvPicPr>
          <p:nvPr/>
        </p:nvPicPr>
        <p:blipFill>
          <a:blip r:embed="rId6"/>
          <a:stretch>
            <a:fillRect/>
          </a:stretch>
        </p:blipFill>
        <p:spPr>
          <a:xfrm>
            <a:off x="10044684" y="1783080"/>
            <a:ext cx="347472" cy="347472"/>
          </a:xfrm>
          <a:prstGeom prst="rect">
            <a:avLst/>
          </a:prstGeom>
        </p:spPr>
      </p:pic>
      <p:sp>
        <p:nvSpPr>
          <p:cNvPr id="22" name="Text 16"/>
          <p:cNvSpPr/>
          <p:nvPr/>
        </p:nvSpPr>
        <p:spPr>
          <a:xfrm>
            <a:off x="9025128" y="2377440"/>
            <a:ext cx="2386584" cy="457200"/>
          </a:xfrm>
          <a:prstGeom prst="rect">
            <a:avLst/>
          </a:prstGeom>
          <a:noFill/>
          <a:ln/>
        </p:spPr>
        <p:txBody>
          <a:bodyPr wrap="square" rtlCol="0" anchor="t"/>
          <a:lstStyle/>
          <a:p>
            <a:pPr marL="0" indent="0" algn="ctr">
              <a:buNone/>
            </a:pPr>
            <a:r>
              <a:rPr lang="en-US" sz="1250" b="1" dirty="0">
                <a:solidFill>
                  <a:srgbClr val="2A2A2A"/>
                </a:solidFill>
                <a:latin typeface="Calibri" pitchFamily="34" charset="0"/>
                <a:ea typeface="Calibri" pitchFamily="34" charset="-122"/>
                <a:cs typeface="Calibri" pitchFamily="34" charset="-120"/>
              </a:rPr>
              <a:t>Domain Structure</a:t>
            </a:r>
            <a:endParaRPr lang="en-US" sz="1250" dirty="0"/>
          </a:p>
        </p:txBody>
      </p:sp>
      <p:sp>
        <p:nvSpPr>
          <p:cNvPr id="23" name="Text 17"/>
          <p:cNvSpPr/>
          <p:nvPr/>
        </p:nvSpPr>
        <p:spPr>
          <a:xfrm>
            <a:off x="9052560" y="2816352"/>
            <a:ext cx="2331720" cy="868680"/>
          </a:xfrm>
          <a:prstGeom prst="rect">
            <a:avLst/>
          </a:prstGeom>
          <a:noFill/>
          <a:ln/>
        </p:spPr>
        <p:txBody>
          <a:bodyPr wrap="square" rtlCol="0" anchor="t"/>
          <a:lstStyle/>
          <a:p>
            <a:pPr marL="0" indent="0" algn="ctr">
              <a:lnSpc>
                <a:spcPct val="110000"/>
              </a:lnSpc>
              <a:buNone/>
            </a:pPr>
            <a:r>
              <a:rPr lang="en-US" sz="1000" dirty="0">
                <a:solidFill>
                  <a:srgbClr val="6B6B6B"/>
                </a:solidFill>
                <a:latin typeface="Calibri" pitchFamily="34" charset="0"/>
                <a:ea typeface="Calibri" pitchFamily="34" charset="-122"/>
                <a:cs typeface="Calibri" pitchFamily="34" charset="-120"/>
              </a:rPr>
              <a:t>Organized Domain → Category → Item browsing instead of one messy marketplace.</a:t>
            </a:r>
            <a:endParaRPr lang="en-US" sz="1000" dirty="0"/>
          </a:p>
        </p:txBody>
      </p:sp>
      <p:sp>
        <p:nvSpPr>
          <p:cNvPr id="24" name="Shape 18"/>
          <p:cNvSpPr/>
          <p:nvPr/>
        </p:nvSpPr>
        <p:spPr>
          <a:xfrm>
            <a:off x="548640" y="3977640"/>
            <a:ext cx="2606040" cy="2286000"/>
          </a:xfrm>
          <a:prstGeom prst="roundRect">
            <a:avLst>
              <a:gd name="adj" fmla="val 3200"/>
            </a:avLst>
          </a:prstGeom>
          <a:solidFill>
            <a:srgbClr val="F5F5F5"/>
          </a:solidFill>
          <a:ln/>
        </p:spPr>
      </p:sp>
      <p:sp>
        <p:nvSpPr>
          <p:cNvPr id="25" name="Shape 19"/>
          <p:cNvSpPr/>
          <p:nvPr/>
        </p:nvSpPr>
        <p:spPr>
          <a:xfrm>
            <a:off x="1559052" y="4178808"/>
            <a:ext cx="585216" cy="585216"/>
          </a:xfrm>
          <a:prstGeom prst="ellipse">
            <a:avLst/>
          </a:prstGeom>
          <a:solidFill>
            <a:srgbClr val="2C5F2D"/>
          </a:solidFill>
          <a:ln/>
        </p:spPr>
      </p:sp>
      <p:pic>
        <p:nvPicPr>
          <p:cNvPr id="26" name="Image 4" descr="/home/claude/ppt/icons_lightbulb_FFFFFF.png"/>
          <p:cNvPicPr>
            <a:picLocks noChangeAspect="1"/>
          </p:cNvPicPr>
          <p:nvPr/>
        </p:nvPicPr>
        <p:blipFill>
          <a:blip r:embed="rId7"/>
          <a:stretch>
            <a:fillRect/>
          </a:stretch>
        </p:blipFill>
        <p:spPr>
          <a:xfrm>
            <a:off x="1677924" y="4297680"/>
            <a:ext cx="347472" cy="347472"/>
          </a:xfrm>
          <a:prstGeom prst="rect">
            <a:avLst/>
          </a:prstGeom>
        </p:spPr>
      </p:pic>
      <p:sp>
        <p:nvSpPr>
          <p:cNvPr id="27" name="Text 20"/>
          <p:cNvSpPr/>
          <p:nvPr/>
        </p:nvSpPr>
        <p:spPr>
          <a:xfrm>
            <a:off x="658368" y="4892040"/>
            <a:ext cx="2386584" cy="457200"/>
          </a:xfrm>
          <a:prstGeom prst="rect">
            <a:avLst/>
          </a:prstGeom>
          <a:noFill/>
          <a:ln/>
        </p:spPr>
        <p:txBody>
          <a:bodyPr wrap="square" rtlCol="0" anchor="t"/>
          <a:lstStyle/>
          <a:p>
            <a:pPr marL="0" indent="0" algn="ctr">
              <a:buNone/>
            </a:pPr>
            <a:r>
              <a:rPr lang="en-US" sz="1250" b="1" dirty="0">
                <a:solidFill>
                  <a:srgbClr val="2A2A2A"/>
                </a:solidFill>
                <a:latin typeface="Calibri" pitchFamily="34" charset="0"/>
                <a:ea typeface="Calibri" pitchFamily="34" charset="-122"/>
                <a:cs typeface="Calibri" pitchFamily="34" charset="-120"/>
              </a:rPr>
              <a:t>Smart Recommendations</a:t>
            </a:r>
            <a:endParaRPr lang="en-US" sz="1250" dirty="0"/>
          </a:p>
        </p:txBody>
      </p:sp>
      <p:sp>
        <p:nvSpPr>
          <p:cNvPr id="28" name="Text 21"/>
          <p:cNvSpPr/>
          <p:nvPr/>
        </p:nvSpPr>
        <p:spPr>
          <a:xfrm>
            <a:off x="685800" y="5330952"/>
            <a:ext cx="2331720" cy="868680"/>
          </a:xfrm>
          <a:prstGeom prst="rect">
            <a:avLst/>
          </a:prstGeom>
          <a:noFill/>
          <a:ln/>
        </p:spPr>
        <p:txBody>
          <a:bodyPr wrap="square" rtlCol="0" anchor="t"/>
          <a:lstStyle/>
          <a:p>
            <a:pPr marL="0" indent="0" algn="ctr">
              <a:lnSpc>
                <a:spcPct val="110000"/>
              </a:lnSpc>
              <a:buNone/>
            </a:pPr>
            <a:r>
              <a:rPr lang="en-US" sz="1000" dirty="0">
                <a:solidFill>
                  <a:srgbClr val="6B6B6B"/>
                </a:solidFill>
                <a:latin typeface="Calibri" pitchFamily="34" charset="0"/>
                <a:ea typeface="Calibri" pitchFamily="34" charset="-122"/>
                <a:cs typeface="Calibri" pitchFamily="34" charset="-120"/>
              </a:rPr>
              <a:t>"You may also need" — surfaces related items automatically.</a:t>
            </a:r>
            <a:endParaRPr lang="en-US" sz="1000" dirty="0"/>
          </a:p>
        </p:txBody>
      </p:sp>
      <p:sp>
        <p:nvSpPr>
          <p:cNvPr id="29" name="Shape 22"/>
          <p:cNvSpPr/>
          <p:nvPr/>
        </p:nvSpPr>
        <p:spPr>
          <a:xfrm>
            <a:off x="3337560" y="3977640"/>
            <a:ext cx="2606040" cy="2286000"/>
          </a:xfrm>
          <a:prstGeom prst="roundRect">
            <a:avLst>
              <a:gd name="adj" fmla="val 3200"/>
            </a:avLst>
          </a:prstGeom>
          <a:solidFill>
            <a:srgbClr val="F5F5F5"/>
          </a:solidFill>
          <a:ln/>
        </p:spPr>
      </p:sp>
      <p:sp>
        <p:nvSpPr>
          <p:cNvPr id="30" name="Shape 23"/>
          <p:cNvSpPr/>
          <p:nvPr/>
        </p:nvSpPr>
        <p:spPr>
          <a:xfrm>
            <a:off x="4347972" y="4178808"/>
            <a:ext cx="585216" cy="585216"/>
          </a:xfrm>
          <a:prstGeom prst="ellipse">
            <a:avLst/>
          </a:prstGeom>
          <a:solidFill>
            <a:srgbClr val="2C5F2D"/>
          </a:solidFill>
          <a:ln/>
        </p:spPr>
      </p:sp>
      <p:pic>
        <p:nvPicPr>
          <p:cNvPr id="31" name="Image 5" descr="/home/claude/ppt/icons_hourglass_FFFFFF.png"/>
          <p:cNvPicPr>
            <a:picLocks noChangeAspect="1"/>
          </p:cNvPicPr>
          <p:nvPr/>
        </p:nvPicPr>
        <p:blipFill>
          <a:blip r:embed="rId8"/>
          <a:stretch>
            <a:fillRect/>
          </a:stretch>
        </p:blipFill>
        <p:spPr>
          <a:xfrm>
            <a:off x="4466844" y="4297680"/>
            <a:ext cx="347472" cy="347472"/>
          </a:xfrm>
          <a:prstGeom prst="rect">
            <a:avLst/>
          </a:prstGeom>
        </p:spPr>
      </p:pic>
      <p:sp>
        <p:nvSpPr>
          <p:cNvPr id="32" name="Text 24"/>
          <p:cNvSpPr/>
          <p:nvPr/>
        </p:nvSpPr>
        <p:spPr>
          <a:xfrm>
            <a:off x="3447288" y="4892040"/>
            <a:ext cx="2386584" cy="457200"/>
          </a:xfrm>
          <a:prstGeom prst="rect">
            <a:avLst/>
          </a:prstGeom>
          <a:noFill/>
          <a:ln/>
        </p:spPr>
        <p:txBody>
          <a:bodyPr wrap="square" rtlCol="0" anchor="t"/>
          <a:lstStyle/>
          <a:p>
            <a:pPr marL="0" indent="0" algn="ctr">
              <a:buNone/>
            </a:pPr>
            <a:r>
              <a:rPr lang="en-US" sz="1250" b="1" dirty="0">
                <a:solidFill>
                  <a:srgbClr val="2A2A2A"/>
                </a:solidFill>
                <a:latin typeface="Calibri" pitchFamily="34" charset="0"/>
                <a:ea typeface="Calibri" pitchFamily="34" charset="-122"/>
                <a:cs typeface="Calibri" pitchFamily="34" charset="-120"/>
              </a:rPr>
              <a:t>Reservation</a:t>
            </a:r>
            <a:endParaRPr lang="en-US" sz="1250" dirty="0"/>
          </a:p>
        </p:txBody>
      </p:sp>
      <p:sp>
        <p:nvSpPr>
          <p:cNvPr id="33" name="Text 25"/>
          <p:cNvSpPr/>
          <p:nvPr/>
        </p:nvSpPr>
        <p:spPr>
          <a:xfrm>
            <a:off x="3474720" y="5330952"/>
            <a:ext cx="2331720" cy="868680"/>
          </a:xfrm>
          <a:prstGeom prst="rect">
            <a:avLst/>
          </a:prstGeom>
          <a:noFill/>
          <a:ln/>
        </p:spPr>
        <p:txBody>
          <a:bodyPr wrap="square" rtlCol="0" anchor="t"/>
          <a:lstStyle/>
          <a:p>
            <a:pPr marL="0" indent="0" algn="ctr">
              <a:lnSpc>
                <a:spcPct val="110000"/>
              </a:lnSpc>
              <a:buNone/>
            </a:pPr>
            <a:r>
              <a:rPr lang="en-US" sz="1000" dirty="0">
                <a:solidFill>
                  <a:srgbClr val="6B6B6B"/>
                </a:solidFill>
                <a:latin typeface="Calibri" pitchFamily="34" charset="0"/>
                <a:ea typeface="Calibri" pitchFamily="34" charset="-122"/>
                <a:cs typeface="Calibri" pitchFamily="34" charset="-120"/>
              </a:rPr>
              <a:t>Temporarily hold an item so it isn't claimed by someone else mid-chat.</a:t>
            </a:r>
            <a:endParaRPr lang="en-US" sz="1000" dirty="0"/>
          </a:p>
        </p:txBody>
      </p:sp>
      <p:sp>
        <p:nvSpPr>
          <p:cNvPr id="34" name="Shape 26"/>
          <p:cNvSpPr/>
          <p:nvPr/>
        </p:nvSpPr>
        <p:spPr>
          <a:xfrm>
            <a:off x="6126480" y="3977640"/>
            <a:ext cx="2606040" cy="2286000"/>
          </a:xfrm>
          <a:prstGeom prst="roundRect">
            <a:avLst>
              <a:gd name="adj" fmla="val 3200"/>
            </a:avLst>
          </a:prstGeom>
          <a:solidFill>
            <a:srgbClr val="F5F5F5"/>
          </a:solidFill>
          <a:ln/>
        </p:spPr>
      </p:sp>
      <p:sp>
        <p:nvSpPr>
          <p:cNvPr id="35" name="Shape 27"/>
          <p:cNvSpPr/>
          <p:nvPr/>
        </p:nvSpPr>
        <p:spPr>
          <a:xfrm>
            <a:off x="7136892" y="4178808"/>
            <a:ext cx="585216" cy="585216"/>
          </a:xfrm>
          <a:prstGeom prst="ellipse">
            <a:avLst/>
          </a:prstGeom>
          <a:solidFill>
            <a:srgbClr val="2C5F2D"/>
          </a:solidFill>
          <a:ln/>
        </p:spPr>
      </p:sp>
      <p:pic>
        <p:nvPicPr>
          <p:cNvPr id="36" name="Image 6" descr="/home/claude/ppt/icons_chartbar_FFFFFF.png"/>
          <p:cNvPicPr>
            <a:picLocks noChangeAspect="1"/>
          </p:cNvPicPr>
          <p:nvPr/>
        </p:nvPicPr>
        <p:blipFill>
          <a:blip r:embed="rId9"/>
          <a:stretch>
            <a:fillRect/>
          </a:stretch>
        </p:blipFill>
        <p:spPr>
          <a:xfrm>
            <a:off x="7255764" y="4297680"/>
            <a:ext cx="347472" cy="347472"/>
          </a:xfrm>
          <a:prstGeom prst="rect">
            <a:avLst/>
          </a:prstGeom>
        </p:spPr>
      </p:pic>
      <p:sp>
        <p:nvSpPr>
          <p:cNvPr id="37" name="Text 28"/>
          <p:cNvSpPr/>
          <p:nvPr/>
        </p:nvSpPr>
        <p:spPr>
          <a:xfrm>
            <a:off x="6236208" y="4892040"/>
            <a:ext cx="2386584" cy="457200"/>
          </a:xfrm>
          <a:prstGeom prst="rect">
            <a:avLst/>
          </a:prstGeom>
          <a:noFill/>
          <a:ln/>
        </p:spPr>
        <p:txBody>
          <a:bodyPr wrap="square" rtlCol="0" anchor="t"/>
          <a:lstStyle/>
          <a:p>
            <a:pPr marL="0" indent="0" algn="ctr">
              <a:buNone/>
            </a:pPr>
            <a:r>
              <a:rPr lang="en-US" sz="1250" b="1" dirty="0">
                <a:solidFill>
                  <a:srgbClr val="2A2A2A"/>
                </a:solidFill>
                <a:latin typeface="Calibri" pitchFamily="34" charset="0"/>
                <a:ea typeface="Calibri" pitchFamily="34" charset="-122"/>
                <a:cs typeface="Calibri" pitchFamily="34" charset="-120"/>
              </a:rPr>
              <a:t>Demand–Supply Insight</a:t>
            </a:r>
            <a:endParaRPr lang="en-US" sz="1250" dirty="0"/>
          </a:p>
        </p:txBody>
      </p:sp>
      <p:sp>
        <p:nvSpPr>
          <p:cNvPr id="38" name="Text 29"/>
          <p:cNvSpPr/>
          <p:nvPr/>
        </p:nvSpPr>
        <p:spPr>
          <a:xfrm>
            <a:off x="6263640" y="5330952"/>
            <a:ext cx="2331720" cy="868680"/>
          </a:xfrm>
          <a:prstGeom prst="rect">
            <a:avLst/>
          </a:prstGeom>
          <a:noFill/>
          <a:ln/>
        </p:spPr>
        <p:txBody>
          <a:bodyPr wrap="square" rtlCol="0" anchor="t"/>
          <a:lstStyle/>
          <a:p>
            <a:pPr marL="0" indent="0" algn="ctr">
              <a:lnSpc>
                <a:spcPct val="110000"/>
              </a:lnSpc>
              <a:buNone/>
            </a:pPr>
            <a:r>
              <a:rPr lang="en-US" sz="1000" dirty="0">
                <a:solidFill>
                  <a:srgbClr val="6B6B6B"/>
                </a:solidFill>
                <a:latin typeface="Calibri" pitchFamily="34" charset="0"/>
                <a:ea typeface="Calibri" pitchFamily="34" charset="-122"/>
                <a:cs typeface="Calibri" pitchFamily="34" charset="-120"/>
              </a:rPr>
              <a:t>Reveals which items are scarce vs. oversupplied, campus-wide.</a:t>
            </a:r>
            <a:endParaRPr lang="en-US" sz="1000" dirty="0"/>
          </a:p>
        </p:txBody>
      </p:sp>
      <p:sp>
        <p:nvSpPr>
          <p:cNvPr id="39" name="Shape 30"/>
          <p:cNvSpPr/>
          <p:nvPr/>
        </p:nvSpPr>
        <p:spPr>
          <a:xfrm>
            <a:off x="8915400" y="3977640"/>
            <a:ext cx="2606040" cy="2286000"/>
          </a:xfrm>
          <a:prstGeom prst="roundRect">
            <a:avLst>
              <a:gd name="adj" fmla="val 3200"/>
            </a:avLst>
          </a:prstGeom>
          <a:solidFill>
            <a:srgbClr val="F5F5F5"/>
          </a:solidFill>
          <a:ln/>
        </p:spPr>
      </p:sp>
      <p:sp>
        <p:nvSpPr>
          <p:cNvPr id="40" name="Shape 31"/>
          <p:cNvSpPr/>
          <p:nvPr/>
        </p:nvSpPr>
        <p:spPr>
          <a:xfrm>
            <a:off x="9925812" y="4178808"/>
            <a:ext cx="585216" cy="585216"/>
          </a:xfrm>
          <a:prstGeom prst="ellipse">
            <a:avLst/>
          </a:prstGeom>
          <a:solidFill>
            <a:srgbClr val="2C5F2D"/>
          </a:solidFill>
          <a:ln/>
        </p:spPr>
      </p:sp>
      <p:pic>
        <p:nvPicPr>
          <p:cNvPr id="41" name="Image 7" descr="/home/claude/ppt/icons_leaf_FFFFFF.png"/>
          <p:cNvPicPr>
            <a:picLocks noChangeAspect="1"/>
          </p:cNvPicPr>
          <p:nvPr/>
        </p:nvPicPr>
        <p:blipFill>
          <a:blip r:embed="rId10"/>
          <a:stretch>
            <a:fillRect/>
          </a:stretch>
        </p:blipFill>
        <p:spPr>
          <a:xfrm>
            <a:off x="10044684" y="4297680"/>
            <a:ext cx="347472" cy="347472"/>
          </a:xfrm>
          <a:prstGeom prst="rect">
            <a:avLst/>
          </a:prstGeom>
        </p:spPr>
      </p:pic>
      <p:sp>
        <p:nvSpPr>
          <p:cNvPr id="42" name="Text 32"/>
          <p:cNvSpPr/>
          <p:nvPr/>
        </p:nvSpPr>
        <p:spPr>
          <a:xfrm>
            <a:off x="9025128" y="4892040"/>
            <a:ext cx="2386584" cy="457200"/>
          </a:xfrm>
          <a:prstGeom prst="rect">
            <a:avLst/>
          </a:prstGeom>
          <a:noFill/>
          <a:ln/>
        </p:spPr>
        <p:txBody>
          <a:bodyPr wrap="square" rtlCol="0" anchor="t"/>
          <a:lstStyle/>
          <a:p>
            <a:pPr marL="0" indent="0" algn="ctr">
              <a:buNone/>
            </a:pPr>
            <a:r>
              <a:rPr lang="en-US" sz="1250" b="1" dirty="0">
                <a:solidFill>
                  <a:srgbClr val="2A2A2A"/>
                </a:solidFill>
                <a:latin typeface="Calibri" pitchFamily="34" charset="0"/>
                <a:ea typeface="Calibri" pitchFamily="34" charset="-122"/>
                <a:cs typeface="Calibri" pitchFamily="34" charset="-120"/>
              </a:rPr>
              <a:t>Sustainability Tracking</a:t>
            </a:r>
            <a:endParaRPr lang="en-US" sz="1250" dirty="0"/>
          </a:p>
        </p:txBody>
      </p:sp>
      <p:sp>
        <p:nvSpPr>
          <p:cNvPr id="43" name="Text 33"/>
          <p:cNvSpPr/>
          <p:nvPr/>
        </p:nvSpPr>
        <p:spPr>
          <a:xfrm>
            <a:off x="9052560" y="5330952"/>
            <a:ext cx="2331720" cy="868680"/>
          </a:xfrm>
          <a:prstGeom prst="rect">
            <a:avLst/>
          </a:prstGeom>
          <a:noFill/>
          <a:ln/>
        </p:spPr>
        <p:txBody>
          <a:bodyPr wrap="square" rtlCol="0" anchor="t"/>
          <a:lstStyle/>
          <a:p>
            <a:pPr marL="0" indent="0" algn="ctr">
              <a:lnSpc>
                <a:spcPct val="110000"/>
              </a:lnSpc>
              <a:buNone/>
            </a:pPr>
            <a:r>
              <a:rPr lang="en-US" sz="1000" dirty="0">
                <a:solidFill>
                  <a:srgbClr val="6B6B6B"/>
                </a:solidFill>
                <a:latin typeface="Calibri" pitchFamily="34" charset="0"/>
                <a:ea typeface="Calibri" pitchFamily="34" charset="-122"/>
                <a:cs typeface="Calibri" pitchFamily="34" charset="-120"/>
              </a:rPr>
              <a:t>Tracks items reused, donated, and estimated student savings.</a:t>
            </a:r>
            <a:endParaRPr lang="en-US" sz="1000" dirty="0"/>
          </a:p>
        </p:txBody>
      </p:sp>
      <p:sp>
        <p:nvSpPr>
          <p:cNvPr id="44" name="Text 34"/>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6B6B"/>
                </a:solidFill>
                <a:latin typeface="Calibri" pitchFamily="34" charset="0"/>
                <a:ea typeface="Calibri" pitchFamily="34" charset="-122"/>
                <a:cs typeface="Calibri" pitchFamily="34" charset="-120"/>
              </a:rPr>
              <a:t>CampusCycle — Project Overview</a:t>
            </a:r>
            <a:endParaRPr lang="en-US" sz="1000" dirty="0"/>
          </a:p>
        </p:txBody>
      </p:sp>
      <p:sp>
        <p:nvSpPr>
          <p:cNvPr id="45" name="Text 35"/>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502920"/>
          </a:xfrm>
          <a:prstGeom prst="rect">
            <a:avLst/>
          </a:prstGeom>
          <a:noFill/>
          <a:ln/>
        </p:spPr>
        <p:txBody>
          <a:bodyPr wrap="square" rtlCol="0" anchor="ctr"/>
          <a:lstStyle/>
          <a:p>
            <a:pPr marL="0" indent="0">
              <a:buNone/>
            </a:pPr>
            <a:r>
              <a:rPr lang="en-US" sz="2800" b="1" dirty="0">
                <a:solidFill>
                  <a:srgbClr val="2C5F2D"/>
                </a:solidFill>
                <a:latin typeface="Cambria" pitchFamily="34" charset="0"/>
                <a:ea typeface="Cambria" pitchFamily="34" charset="-122"/>
                <a:cs typeface="Cambria" pitchFamily="34" charset="-120"/>
              </a:rPr>
              <a:t>5W2H Analysis — As-Is System</a:t>
            </a:r>
            <a:endParaRPr lang="en-US" sz="2800" dirty="0"/>
          </a:p>
        </p:txBody>
      </p:sp>
      <p:sp>
        <p:nvSpPr>
          <p:cNvPr id="3" name="Text 1"/>
          <p:cNvSpPr/>
          <p:nvPr/>
        </p:nvSpPr>
        <p:spPr>
          <a:xfrm>
            <a:off x="548640" y="841248"/>
            <a:ext cx="10789920" cy="320040"/>
          </a:xfrm>
          <a:prstGeom prst="rect">
            <a:avLst/>
          </a:prstGeom>
          <a:noFill/>
          <a:ln/>
        </p:spPr>
        <p:txBody>
          <a:bodyPr wrap="square" rtlCol="0" anchor="ctr"/>
          <a:lstStyle/>
          <a:p>
            <a:pPr marL="0" indent="0">
              <a:buNone/>
            </a:pPr>
            <a:r>
              <a:rPr lang="en-US" sz="1250" i="1" dirty="0">
                <a:solidFill>
                  <a:srgbClr val="B85042"/>
                </a:solidFill>
                <a:latin typeface="Calibri" pitchFamily="34" charset="0"/>
                <a:ea typeface="Calibri" pitchFamily="34" charset="-122"/>
                <a:cs typeface="Calibri" pitchFamily="34" charset="-120"/>
              </a:rPr>
              <a:t>Preliminary framing based on team observation — not yet validated by survey data.</a:t>
            </a:r>
            <a:endParaRPr lang="en-US" sz="1250" dirty="0"/>
          </a:p>
        </p:txBody>
      </p:sp>
      <p:sp>
        <p:nvSpPr>
          <p:cNvPr id="4" name="Shape 2"/>
          <p:cNvSpPr/>
          <p:nvPr/>
        </p:nvSpPr>
        <p:spPr>
          <a:xfrm>
            <a:off x="548640" y="1325880"/>
            <a:ext cx="5394960" cy="2331720"/>
          </a:xfrm>
          <a:prstGeom prst="roundRect">
            <a:avLst>
              <a:gd name="adj" fmla="val 3137"/>
            </a:avLst>
          </a:prstGeom>
          <a:solidFill>
            <a:srgbClr val="F5F5F5"/>
          </a:solidFill>
          <a:ln/>
        </p:spPr>
      </p:sp>
      <p:sp>
        <p:nvSpPr>
          <p:cNvPr id="5" name="Shape 3"/>
          <p:cNvSpPr/>
          <p:nvPr/>
        </p:nvSpPr>
        <p:spPr>
          <a:xfrm>
            <a:off x="777240" y="1527048"/>
            <a:ext cx="1005840" cy="365760"/>
          </a:xfrm>
          <a:prstGeom prst="roundRect">
            <a:avLst>
              <a:gd name="adj" fmla="val 15000"/>
            </a:avLst>
          </a:prstGeom>
          <a:solidFill>
            <a:srgbClr val="2C5F2D"/>
          </a:solidFill>
          <a:ln/>
        </p:spPr>
      </p:sp>
      <p:sp>
        <p:nvSpPr>
          <p:cNvPr id="6" name="Text 4"/>
          <p:cNvSpPr/>
          <p:nvPr/>
        </p:nvSpPr>
        <p:spPr>
          <a:xfrm>
            <a:off x="777240" y="1527048"/>
            <a:ext cx="100584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WHAT</a:t>
            </a:r>
            <a:endParaRPr lang="en-US" sz="1400" dirty="0"/>
          </a:p>
        </p:txBody>
      </p:sp>
      <p:sp>
        <p:nvSpPr>
          <p:cNvPr id="7" name="Text 5"/>
          <p:cNvSpPr/>
          <p:nvPr/>
        </p:nvSpPr>
        <p:spPr>
          <a:xfrm>
            <a:off x="1920240" y="1527048"/>
            <a:ext cx="3794760" cy="365760"/>
          </a:xfrm>
          <a:prstGeom prst="rect">
            <a:avLst/>
          </a:prstGeom>
          <a:noFill/>
          <a:ln/>
        </p:spPr>
        <p:txBody>
          <a:bodyPr wrap="square" rtlCol="0" anchor="ctr"/>
          <a:lstStyle/>
          <a:p>
            <a:pPr marL="0" indent="0">
              <a:buNone/>
            </a:pPr>
            <a:r>
              <a:rPr lang="en-US" sz="1300" b="1" dirty="0">
                <a:solidFill>
                  <a:srgbClr val="2A2A2A"/>
                </a:solidFill>
                <a:latin typeface="Calibri" pitchFamily="34" charset="0"/>
                <a:ea typeface="Calibri" pitchFamily="34" charset="-122"/>
                <a:cs typeface="Calibri" pitchFamily="34" charset="-120"/>
              </a:rPr>
              <a:t>Symptoms (Effect)</a:t>
            </a:r>
            <a:endParaRPr lang="en-US" sz="1300" dirty="0"/>
          </a:p>
        </p:txBody>
      </p:sp>
      <p:sp>
        <p:nvSpPr>
          <p:cNvPr id="8" name="Text 6"/>
          <p:cNvSpPr/>
          <p:nvPr/>
        </p:nvSpPr>
        <p:spPr>
          <a:xfrm>
            <a:off x="777240" y="2039112"/>
            <a:ext cx="4937760" cy="1234440"/>
          </a:xfrm>
          <a:prstGeom prst="rect">
            <a:avLst/>
          </a:prstGeom>
          <a:noFill/>
          <a:ln/>
        </p:spPr>
        <p:txBody>
          <a:bodyPr wrap="square" rtlCol="0" anchor="t"/>
          <a:lstStyle/>
          <a:p>
            <a:pPr marL="0" indent="0">
              <a:lnSpc>
                <a:spcPct val="115000"/>
              </a:lnSpc>
              <a:buNone/>
            </a:pPr>
            <a:r>
              <a:rPr lang="en-US" sz="1200" dirty="0">
                <a:solidFill>
                  <a:srgbClr val="2A2A2A"/>
                </a:solidFill>
                <a:latin typeface="Calibri" pitchFamily="34" charset="0"/>
                <a:ea typeface="Calibri" pitchFamily="34" charset="-122"/>
                <a:cs typeface="Calibri" pitchFamily="34" charset="-120"/>
              </a:rPr>
              <a:t>Students repeatedly buy single-use academic items — lab coats, calculators, drawing kits — that go unused after one semester, while usable items already owned by other students sit idle or get discarded.</a:t>
            </a:r>
            <a:endParaRPr lang="en-US" sz="1200" dirty="0"/>
          </a:p>
        </p:txBody>
      </p:sp>
      <p:sp>
        <p:nvSpPr>
          <p:cNvPr id="9" name="Text 7"/>
          <p:cNvSpPr/>
          <p:nvPr/>
        </p:nvSpPr>
        <p:spPr>
          <a:xfrm>
            <a:off x="777240" y="3291840"/>
            <a:ext cx="4937760" cy="274320"/>
          </a:xfrm>
          <a:prstGeom prst="rect">
            <a:avLst/>
          </a:prstGeom>
          <a:noFill/>
          <a:ln/>
        </p:spPr>
        <p:txBody>
          <a:bodyPr wrap="square" rtlCol="0" anchor="ctr"/>
          <a:lstStyle/>
          <a:p>
            <a:pPr marL="0" indent="0">
              <a:buNone/>
            </a:pPr>
            <a:r>
              <a:rPr lang="en-US" sz="950" b="1" kern="0" spc="100" dirty="0">
                <a:solidFill>
                  <a:srgbClr val="B85042"/>
                </a:solidFill>
                <a:latin typeface="Calibri" pitchFamily="34" charset="0"/>
                <a:ea typeface="Calibri" pitchFamily="34" charset="-122"/>
                <a:cs typeface="Calibri" pitchFamily="34" charset="-120"/>
              </a:rPr>
              <a:t>ASSUMPTION — TO VALIDATE</a:t>
            </a:r>
            <a:endParaRPr lang="en-US" sz="950" dirty="0"/>
          </a:p>
        </p:txBody>
      </p:sp>
      <p:sp>
        <p:nvSpPr>
          <p:cNvPr id="10" name="Shape 8"/>
          <p:cNvSpPr/>
          <p:nvPr/>
        </p:nvSpPr>
        <p:spPr>
          <a:xfrm>
            <a:off x="6217920" y="1325880"/>
            <a:ext cx="5394960" cy="2331720"/>
          </a:xfrm>
          <a:prstGeom prst="roundRect">
            <a:avLst>
              <a:gd name="adj" fmla="val 3137"/>
            </a:avLst>
          </a:prstGeom>
          <a:solidFill>
            <a:srgbClr val="F5F5F5"/>
          </a:solidFill>
          <a:ln/>
        </p:spPr>
      </p:sp>
      <p:sp>
        <p:nvSpPr>
          <p:cNvPr id="11" name="Shape 9"/>
          <p:cNvSpPr/>
          <p:nvPr/>
        </p:nvSpPr>
        <p:spPr>
          <a:xfrm>
            <a:off x="6446520" y="1527048"/>
            <a:ext cx="1005840" cy="365760"/>
          </a:xfrm>
          <a:prstGeom prst="roundRect">
            <a:avLst>
              <a:gd name="adj" fmla="val 15000"/>
            </a:avLst>
          </a:prstGeom>
          <a:solidFill>
            <a:srgbClr val="2C5F2D"/>
          </a:solidFill>
          <a:ln/>
        </p:spPr>
      </p:sp>
      <p:sp>
        <p:nvSpPr>
          <p:cNvPr id="12" name="Text 10"/>
          <p:cNvSpPr/>
          <p:nvPr/>
        </p:nvSpPr>
        <p:spPr>
          <a:xfrm>
            <a:off x="6446520" y="1527048"/>
            <a:ext cx="100584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WHO</a:t>
            </a:r>
            <a:endParaRPr lang="en-US" sz="1400" dirty="0"/>
          </a:p>
        </p:txBody>
      </p:sp>
      <p:sp>
        <p:nvSpPr>
          <p:cNvPr id="13" name="Text 11"/>
          <p:cNvSpPr/>
          <p:nvPr/>
        </p:nvSpPr>
        <p:spPr>
          <a:xfrm>
            <a:off x="7589520" y="1527048"/>
            <a:ext cx="3794760" cy="365760"/>
          </a:xfrm>
          <a:prstGeom prst="rect">
            <a:avLst/>
          </a:prstGeom>
          <a:noFill/>
          <a:ln/>
        </p:spPr>
        <p:txBody>
          <a:bodyPr wrap="square" rtlCol="0" anchor="ctr"/>
          <a:lstStyle/>
          <a:p>
            <a:pPr marL="0" indent="0">
              <a:buNone/>
            </a:pPr>
            <a:r>
              <a:rPr lang="en-US" sz="1300" b="1" dirty="0">
                <a:solidFill>
                  <a:srgbClr val="2A2A2A"/>
                </a:solidFill>
                <a:latin typeface="Calibri" pitchFamily="34" charset="0"/>
                <a:ea typeface="Calibri" pitchFamily="34" charset="-122"/>
                <a:cs typeface="Calibri" pitchFamily="34" charset="-120"/>
              </a:rPr>
              <a:t>Affected Most</a:t>
            </a:r>
            <a:endParaRPr lang="en-US" sz="1300" dirty="0"/>
          </a:p>
        </p:txBody>
      </p:sp>
      <p:sp>
        <p:nvSpPr>
          <p:cNvPr id="14" name="Text 12"/>
          <p:cNvSpPr/>
          <p:nvPr/>
        </p:nvSpPr>
        <p:spPr>
          <a:xfrm>
            <a:off x="6446520" y="2039112"/>
            <a:ext cx="4937760" cy="1234440"/>
          </a:xfrm>
          <a:prstGeom prst="rect">
            <a:avLst/>
          </a:prstGeom>
          <a:noFill/>
          <a:ln/>
        </p:spPr>
        <p:txBody>
          <a:bodyPr wrap="square" rtlCol="0" anchor="t"/>
          <a:lstStyle/>
          <a:p>
            <a:pPr marL="0" indent="0">
              <a:lnSpc>
                <a:spcPct val="115000"/>
              </a:lnSpc>
              <a:buNone/>
            </a:pPr>
            <a:r>
              <a:rPr lang="en-US" sz="1200" dirty="0">
                <a:solidFill>
                  <a:srgbClr val="2A2A2A"/>
                </a:solidFill>
                <a:latin typeface="Calibri" pitchFamily="34" charset="0"/>
                <a:ea typeface="Calibri" pitchFamily="34" charset="-122"/>
                <a:cs typeface="Calibri" pitchFamily="34" charset="-120"/>
              </a:rPr>
              <a:t>Students across all years, especially juniors and first-years, who buy new items by default simply because they don't know which seniors already own a usable one.</a:t>
            </a:r>
            <a:endParaRPr lang="en-US" sz="1200" dirty="0"/>
          </a:p>
        </p:txBody>
      </p:sp>
      <p:sp>
        <p:nvSpPr>
          <p:cNvPr id="15" name="Text 13"/>
          <p:cNvSpPr/>
          <p:nvPr/>
        </p:nvSpPr>
        <p:spPr>
          <a:xfrm>
            <a:off x="6446520" y="3291840"/>
            <a:ext cx="4937760" cy="274320"/>
          </a:xfrm>
          <a:prstGeom prst="rect">
            <a:avLst/>
          </a:prstGeom>
          <a:noFill/>
          <a:ln/>
        </p:spPr>
        <p:txBody>
          <a:bodyPr wrap="square" rtlCol="0" anchor="ctr"/>
          <a:lstStyle/>
          <a:p>
            <a:pPr marL="0" indent="0">
              <a:buNone/>
            </a:pPr>
            <a:r>
              <a:rPr lang="en-US" sz="950" b="1" kern="0" spc="100" dirty="0">
                <a:solidFill>
                  <a:srgbClr val="B85042"/>
                </a:solidFill>
                <a:latin typeface="Calibri" pitchFamily="34" charset="0"/>
                <a:ea typeface="Calibri" pitchFamily="34" charset="-122"/>
                <a:cs typeface="Calibri" pitchFamily="34" charset="-120"/>
              </a:rPr>
              <a:t>ASSUMPTION — TO VALIDATE</a:t>
            </a:r>
            <a:endParaRPr lang="en-US" sz="950" dirty="0"/>
          </a:p>
        </p:txBody>
      </p:sp>
      <p:sp>
        <p:nvSpPr>
          <p:cNvPr id="16" name="Shape 14"/>
          <p:cNvSpPr/>
          <p:nvPr/>
        </p:nvSpPr>
        <p:spPr>
          <a:xfrm>
            <a:off x="548640" y="3931920"/>
            <a:ext cx="5394960" cy="2331720"/>
          </a:xfrm>
          <a:prstGeom prst="roundRect">
            <a:avLst>
              <a:gd name="adj" fmla="val 3137"/>
            </a:avLst>
          </a:prstGeom>
          <a:solidFill>
            <a:srgbClr val="F5F5F5"/>
          </a:solidFill>
          <a:ln/>
        </p:spPr>
      </p:sp>
      <p:sp>
        <p:nvSpPr>
          <p:cNvPr id="17" name="Shape 15"/>
          <p:cNvSpPr/>
          <p:nvPr/>
        </p:nvSpPr>
        <p:spPr>
          <a:xfrm>
            <a:off x="777240" y="4133088"/>
            <a:ext cx="1005840" cy="365760"/>
          </a:xfrm>
          <a:prstGeom prst="roundRect">
            <a:avLst>
              <a:gd name="adj" fmla="val 15000"/>
            </a:avLst>
          </a:prstGeom>
          <a:solidFill>
            <a:srgbClr val="2C5F2D"/>
          </a:solidFill>
          <a:ln/>
        </p:spPr>
      </p:sp>
      <p:sp>
        <p:nvSpPr>
          <p:cNvPr id="18" name="Text 16"/>
          <p:cNvSpPr/>
          <p:nvPr/>
        </p:nvSpPr>
        <p:spPr>
          <a:xfrm>
            <a:off x="777240" y="4133088"/>
            <a:ext cx="100584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WHO</a:t>
            </a:r>
            <a:endParaRPr lang="en-US" sz="1400" dirty="0"/>
          </a:p>
        </p:txBody>
      </p:sp>
      <p:sp>
        <p:nvSpPr>
          <p:cNvPr id="19" name="Text 17"/>
          <p:cNvSpPr/>
          <p:nvPr/>
        </p:nvSpPr>
        <p:spPr>
          <a:xfrm>
            <a:off x="1920240" y="4133088"/>
            <a:ext cx="3794760" cy="365760"/>
          </a:xfrm>
          <a:prstGeom prst="rect">
            <a:avLst/>
          </a:prstGeom>
          <a:noFill/>
          <a:ln/>
        </p:spPr>
        <p:txBody>
          <a:bodyPr wrap="square" rtlCol="0" anchor="ctr"/>
          <a:lstStyle/>
          <a:p>
            <a:pPr marL="0" indent="0">
              <a:buNone/>
            </a:pPr>
            <a:r>
              <a:rPr lang="en-US" sz="1300" b="1" dirty="0">
                <a:solidFill>
                  <a:srgbClr val="2A2A2A"/>
                </a:solidFill>
                <a:latin typeface="Calibri" pitchFamily="34" charset="0"/>
                <a:ea typeface="Calibri" pitchFamily="34" charset="-122"/>
                <a:cs typeface="Calibri" pitchFamily="34" charset="-120"/>
              </a:rPr>
              <a:t>Causing the Problem</a:t>
            </a:r>
            <a:endParaRPr lang="en-US" sz="1300" dirty="0"/>
          </a:p>
        </p:txBody>
      </p:sp>
      <p:sp>
        <p:nvSpPr>
          <p:cNvPr id="20" name="Text 18"/>
          <p:cNvSpPr/>
          <p:nvPr/>
        </p:nvSpPr>
        <p:spPr>
          <a:xfrm>
            <a:off x="777240" y="4645152"/>
            <a:ext cx="4937760" cy="1234440"/>
          </a:xfrm>
          <a:prstGeom prst="rect">
            <a:avLst/>
          </a:prstGeom>
          <a:noFill/>
          <a:ln/>
        </p:spPr>
        <p:txBody>
          <a:bodyPr wrap="square" rtlCol="0" anchor="t"/>
          <a:lstStyle/>
          <a:p>
            <a:pPr marL="0" indent="0">
              <a:lnSpc>
                <a:spcPct val="115000"/>
              </a:lnSpc>
              <a:buNone/>
            </a:pPr>
            <a:r>
              <a:rPr lang="en-US" sz="1200" dirty="0">
                <a:solidFill>
                  <a:srgbClr val="2A2A2A"/>
                </a:solidFill>
                <a:latin typeface="Calibri" pitchFamily="34" charset="0"/>
                <a:ea typeface="Calibri" pitchFamily="34" charset="-122"/>
                <a:cs typeface="Calibri" pitchFamily="34" charset="-120"/>
              </a:rPr>
              <a:t>Fragmented informal channels — scattered WhatsApp groups, word-of-mouth, no centralized listing — that fail to reliably connect students who have items with students who need them.</a:t>
            </a:r>
            <a:endParaRPr lang="en-US" sz="1200" dirty="0"/>
          </a:p>
        </p:txBody>
      </p:sp>
      <p:sp>
        <p:nvSpPr>
          <p:cNvPr id="21" name="Text 19"/>
          <p:cNvSpPr/>
          <p:nvPr/>
        </p:nvSpPr>
        <p:spPr>
          <a:xfrm>
            <a:off x="777240" y="5897880"/>
            <a:ext cx="4937760" cy="274320"/>
          </a:xfrm>
          <a:prstGeom prst="rect">
            <a:avLst/>
          </a:prstGeom>
          <a:noFill/>
          <a:ln/>
        </p:spPr>
        <p:txBody>
          <a:bodyPr wrap="square" rtlCol="0" anchor="ctr"/>
          <a:lstStyle/>
          <a:p>
            <a:pPr marL="0" indent="0">
              <a:buNone/>
            </a:pPr>
            <a:r>
              <a:rPr lang="en-US" sz="950" b="1" kern="0" spc="100" dirty="0">
                <a:solidFill>
                  <a:srgbClr val="B85042"/>
                </a:solidFill>
                <a:latin typeface="Calibri" pitchFamily="34" charset="0"/>
                <a:ea typeface="Calibri" pitchFamily="34" charset="-122"/>
                <a:cs typeface="Calibri" pitchFamily="34" charset="-120"/>
              </a:rPr>
              <a:t>ASSUMPTION — TO VALIDATE</a:t>
            </a:r>
            <a:endParaRPr lang="en-US" sz="950" dirty="0"/>
          </a:p>
        </p:txBody>
      </p:sp>
      <p:sp>
        <p:nvSpPr>
          <p:cNvPr id="22" name="Shape 20"/>
          <p:cNvSpPr/>
          <p:nvPr/>
        </p:nvSpPr>
        <p:spPr>
          <a:xfrm>
            <a:off x="6217920" y="3931920"/>
            <a:ext cx="5394960" cy="2331720"/>
          </a:xfrm>
          <a:prstGeom prst="roundRect">
            <a:avLst>
              <a:gd name="adj" fmla="val 3137"/>
            </a:avLst>
          </a:prstGeom>
          <a:solidFill>
            <a:srgbClr val="F5F5F5"/>
          </a:solidFill>
          <a:ln/>
        </p:spPr>
      </p:sp>
      <p:sp>
        <p:nvSpPr>
          <p:cNvPr id="23" name="Shape 21"/>
          <p:cNvSpPr/>
          <p:nvPr/>
        </p:nvSpPr>
        <p:spPr>
          <a:xfrm>
            <a:off x="6446520" y="4133088"/>
            <a:ext cx="1005840" cy="365760"/>
          </a:xfrm>
          <a:prstGeom prst="roundRect">
            <a:avLst>
              <a:gd name="adj" fmla="val 15000"/>
            </a:avLst>
          </a:prstGeom>
          <a:solidFill>
            <a:srgbClr val="2C5F2D"/>
          </a:solidFill>
          <a:ln/>
        </p:spPr>
      </p:sp>
      <p:sp>
        <p:nvSpPr>
          <p:cNvPr id="24" name="Text 22"/>
          <p:cNvSpPr/>
          <p:nvPr/>
        </p:nvSpPr>
        <p:spPr>
          <a:xfrm>
            <a:off x="6446520" y="4133088"/>
            <a:ext cx="100584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WHEN</a:t>
            </a:r>
            <a:endParaRPr lang="en-US" sz="1400" dirty="0"/>
          </a:p>
        </p:txBody>
      </p:sp>
      <p:sp>
        <p:nvSpPr>
          <p:cNvPr id="25" name="Text 23"/>
          <p:cNvSpPr/>
          <p:nvPr/>
        </p:nvSpPr>
        <p:spPr>
          <a:xfrm>
            <a:off x="7589520" y="4133088"/>
            <a:ext cx="3794760" cy="365760"/>
          </a:xfrm>
          <a:prstGeom prst="rect">
            <a:avLst/>
          </a:prstGeom>
          <a:noFill/>
          <a:ln/>
        </p:spPr>
        <p:txBody>
          <a:bodyPr wrap="square" rtlCol="0" anchor="ctr"/>
          <a:lstStyle/>
          <a:p>
            <a:pPr marL="0" indent="0">
              <a:buNone/>
            </a:pPr>
            <a:r>
              <a:rPr lang="en-US" sz="1300" b="1" dirty="0">
                <a:solidFill>
                  <a:srgbClr val="2A2A2A"/>
                </a:solidFill>
                <a:latin typeface="Calibri" pitchFamily="34" charset="0"/>
                <a:ea typeface="Calibri" pitchFamily="34" charset="-122"/>
                <a:cs typeface="Calibri" pitchFamily="34" charset="-120"/>
              </a:rPr>
              <a:t>Time Patterns</a:t>
            </a:r>
            <a:endParaRPr lang="en-US" sz="1300" dirty="0"/>
          </a:p>
        </p:txBody>
      </p:sp>
      <p:sp>
        <p:nvSpPr>
          <p:cNvPr id="26" name="Text 24"/>
          <p:cNvSpPr/>
          <p:nvPr/>
        </p:nvSpPr>
        <p:spPr>
          <a:xfrm>
            <a:off x="6446520" y="4645152"/>
            <a:ext cx="4937760" cy="1234440"/>
          </a:xfrm>
          <a:prstGeom prst="rect">
            <a:avLst/>
          </a:prstGeom>
          <a:noFill/>
          <a:ln/>
        </p:spPr>
        <p:txBody>
          <a:bodyPr wrap="square" rtlCol="0" anchor="t"/>
          <a:lstStyle/>
          <a:p>
            <a:pPr marL="0" indent="0">
              <a:lnSpc>
                <a:spcPct val="115000"/>
              </a:lnSpc>
              <a:buNone/>
            </a:pPr>
            <a:r>
              <a:rPr lang="en-US" sz="1200" dirty="0">
                <a:solidFill>
                  <a:srgbClr val="2A2A2A"/>
                </a:solidFill>
                <a:latin typeface="Calibri" pitchFamily="34" charset="0"/>
                <a:ea typeface="Calibri" pitchFamily="34" charset="-122"/>
                <a:cs typeface="Calibri" pitchFamily="34" charset="-120"/>
              </a:rPr>
              <a:t>Symptom peaks at semester start / when a lab course begins (purchase surge) and again near semester end / graduation (disposal surge); comparatively quiet mid-semester.</a:t>
            </a:r>
            <a:endParaRPr lang="en-US" sz="1200" dirty="0"/>
          </a:p>
        </p:txBody>
      </p:sp>
      <p:sp>
        <p:nvSpPr>
          <p:cNvPr id="27" name="Text 25"/>
          <p:cNvSpPr/>
          <p:nvPr/>
        </p:nvSpPr>
        <p:spPr>
          <a:xfrm>
            <a:off x="6446520" y="5897880"/>
            <a:ext cx="4937760" cy="274320"/>
          </a:xfrm>
          <a:prstGeom prst="rect">
            <a:avLst/>
          </a:prstGeom>
          <a:noFill/>
          <a:ln/>
        </p:spPr>
        <p:txBody>
          <a:bodyPr wrap="square" rtlCol="0" anchor="ctr"/>
          <a:lstStyle/>
          <a:p>
            <a:pPr marL="0" indent="0">
              <a:buNone/>
            </a:pPr>
            <a:r>
              <a:rPr lang="en-US" sz="950" b="1" kern="0" spc="100" dirty="0">
                <a:solidFill>
                  <a:srgbClr val="B85042"/>
                </a:solidFill>
                <a:latin typeface="Calibri" pitchFamily="34" charset="0"/>
                <a:ea typeface="Calibri" pitchFamily="34" charset="-122"/>
                <a:cs typeface="Calibri" pitchFamily="34" charset="-120"/>
              </a:rPr>
              <a:t>ASSUMPTION — TO VALIDATE</a:t>
            </a:r>
            <a:endParaRPr lang="en-US" sz="950" dirty="0"/>
          </a:p>
        </p:txBody>
      </p:sp>
      <p:sp>
        <p:nvSpPr>
          <p:cNvPr id="28" name="Text 26"/>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6B6B"/>
                </a:solidFill>
                <a:latin typeface="Calibri" pitchFamily="34" charset="0"/>
                <a:ea typeface="Calibri" pitchFamily="34" charset="-122"/>
                <a:cs typeface="Calibri" pitchFamily="34" charset="-120"/>
              </a:rPr>
              <a:t>CampusCycle — Project Overview</a:t>
            </a:r>
            <a:endParaRPr lang="en-US" sz="1000" dirty="0"/>
          </a:p>
        </p:txBody>
      </p:sp>
      <p:sp>
        <p:nvSpPr>
          <p:cNvPr id="29" name="Text 27"/>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502920"/>
          </a:xfrm>
          <a:prstGeom prst="rect">
            <a:avLst/>
          </a:prstGeom>
          <a:noFill/>
          <a:ln/>
        </p:spPr>
        <p:txBody>
          <a:bodyPr wrap="square" rtlCol="0" anchor="ctr"/>
          <a:lstStyle/>
          <a:p>
            <a:pPr marL="0" indent="0">
              <a:buNone/>
            </a:pPr>
            <a:r>
              <a:rPr lang="en-US" sz="2600" b="1" dirty="0">
                <a:solidFill>
                  <a:srgbClr val="2C5F2D"/>
                </a:solidFill>
                <a:latin typeface="Cambria" pitchFamily="34" charset="0"/>
                <a:ea typeface="Cambria" pitchFamily="34" charset="-122"/>
                <a:cs typeface="Cambria" pitchFamily="34" charset="-120"/>
              </a:rPr>
              <a:t>5W2H Analysis — As-Is System (contd.)</a:t>
            </a:r>
            <a:endParaRPr lang="en-US" sz="2600" dirty="0"/>
          </a:p>
        </p:txBody>
      </p:sp>
      <p:sp>
        <p:nvSpPr>
          <p:cNvPr id="3" name="Text 1"/>
          <p:cNvSpPr/>
          <p:nvPr/>
        </p:nvSpPr>
        <p:spPr>
          <a:xfrm>
            <a:off x="548640" y="822960"/>
            <a:ext cx="10789920" cy="320040"/>
          </a:xfrm>
          <a:prstGeom prst="rect">
            <a:avLst/>
          </a:prstGeom>
          <a:noFill/>
          <a:ln/>
        </p:spPr>
        <p:txBody>
          <a:bodyPr wrap="square" rtlCol="0" anchor="ctr"/>
          <a:lstStyle/>
          <a:p>
            <a:pPr marL="0" indent="0">
              <a:buNone/>
            </a:pPr>
            <a:r>
              <a:rPr lang="en-US" sz="1250" i="1" dirty="0">
                <a:solidFill>
                  <a:srgbClr val="B85042"/>
                </a:solidFill>
                <a:latin typeface="Calibri" pitchFamily="34" charset="0"/>
                <a:ea typeface="Calibri" pitchFamily="34" charset="-122"/>
                <a:cs typeface="Calibri" pitchFamily="34" charset="-120"/>
              </a:rPr>
              <a:t>Preliminary framing based on team observation — not yet validated by survey data.</a:t>
            </a:r>
            <a:endParaRPr lang="en-US" sz="1250" dirty="0"/>
          </a:p>
        </p:txBody>
      </p:sp>
      <p:sp>
        <p:nvSpPr>
          <p:cNvPr id="4" name="Shape 2"/>
          <p:cNvSpPr/>
          <p:nvPr/>
        </p:nvSpPr>
        <p:spPr>
          <a:xfrm>
            <a:off x="548640" y="1280160"/>
            <a:ext cx="11091672" cy="1371600"/>
          </a:xfrm>
          <a:prstGeom prst="roundRect">
            <a:avLst>
              <a:gd name="adj" fmla="val 5333"/>
            </a:avLst>
          </a:prstGeom>
          <a:solidFill>
            <a:srgbClr val="F5F5F5"/>
          </a:solidFill>
          <a:ln/>
        </p:spPr>
      </p:sp>
      <p:sp>
        <p:nvSpPr>
          <p:cNvPr id="5" name="Shape 3"/>
          <p:cNvSpPr/>
          <p:nvPr/>
        </p:nvSpPr>
        <p:spPr>
          <a:xfrm>
            <a:off x="777240" y="1481328"/>
            <a:ext cx="1005840" cy="365760"/>
          </a:xfrm>
          <a:prstGeom prst="roundRect">
            <a:avLst>
              <a:gd name="adj" fmla="val 15000"/>
            </a:avLst>
          </a:prstGeom>
          <a:solidFill>
            <a:srgbClr val="2C5F2D"/>
          </a:solidFill>
          <a:ln/>
        </p:spPr>
      </p:sp>
      <p:sp>
        <p:nvSpPr>
          <p:cNvPr id="6" name="Text 4"/>
          <p:cNvSpPr/>
          <p:nvPr/>
        </p:nvSpPr>
        <p:spPr>
          <a:xfrm>
            <a:off x="777240" y="1481328"/>
            <a:ext cx="100584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WHERE</a:t>
            </a:r>
            <a:endParaRPr lang="en-US" sz="1300" dirty="0"/>
          </a:p>
        </p:txBody>
      </p:sp>
      <p:sp>
        <p:nvSpPr>
          <p:cNvPr id="7" name="Text 5"/>
          <p:cNvSpPr/>
          <p:nvPr/>
        </p:nvSpPr>
        <p:spPr>
          <a:xfrm>
            <a:off x="1920240" y="1481328"/>
            <a:ext cx="2743200" cy="365760"/>
          </a:xfrm>
          <a:prstGeom prst="rect">
            <a:avLst/>
          </a:prstGeom>
          <a:noFill/>
          <a:ln/>
        </p:spPr>
        <p:txBody>
          <a:bodyPr wrap="square" rtlCol="0" anchor="ctr"/>
          <a:lstStyle/>
          <a:p>
            <a:pPr marL="0" indent="0">
              <a:buNone/>
            </a:pPr>
            <a:r>
              <a:rPr lang="en-US" sz="1300" b="1" dirty="0">
                <a:solidFill>
                  <a:srgbClr val="2A2A2A"/>
                </a:solidFill>
                <a:latin typeface="Calibri" pitchFamily="34" charset="0"/>
                <a:ea typeface="Calibri" pitchFamily="34" charset="-122"/>
                <a:cs typeface="Calibri" pitchFamily="34" charset="-120"/>
              </a:rPr>
              <a:t>Space Context</a:t>
            </a:r>
            <a:endParaRPr lang="en-US" sz="1300" dirty="0"/>
          </a:p>
        </p:txBody>
      </p:sp>
      <p:sp>
        <p:nvSpPr>
          <p:cNvPr id="8" name="Text 6"/>
          <p:cNvSpPr/>
          <p:nvPr/>
        </p:nvSpPr>
        <p:spPr>
          <a:xfrm>
            <a:off x="777240" y="1938528"/>
            <a:ext cx="10607040" cy="594360"/>
          </a:xfrm>
          <a:prstGeom prst="rect">
            <a:avLst/>
          </a:prstGeom>
          <a:noFill/>
          <a:ln/>
        </p:spPr>
        <p:txBody>
          <a:bodyPr wrap="square" rtlCol="0" anchor="t"/>
          <a:lstStyle/>
          <a:p>
            <a:pPr marL="0" indent="0">
              <a:lnSpc>
                <a:spcPct val="115000"/>
              </a:lnSpc>
              <a:buNone/>
            </a:pPr>
            <a:r>
              <a:rPr lang="en-US" sz="1200" dirty="0">
                <a:solidFill>
                  <a:srgbClr val="2A2A2A"/>
                </a:solidFill>
                <a:latin typeface="Calibri" pitchFamily="34" charset="0"/>
                <a:ea typeface="Calibri" pitchFamily="34" charset="-122"/>
                <a:cs typeface="Calibri" pitchFamily="34" charset="-120"/>
              </a:rPr>
              <a:t>Concentrated in hostel blocks, department-level WhatsApp groups, and bookstores/stationery shops near campus; appears far less common among students with strong senior networks or family in the same college.</a:t>
            </a:r>
            <a:endParaRPr lang="en-US" sz="1200" dirty="0"/>
          </a:p>
        </p:txBody>
      </p:sp>
      <p:sp>
        <p:nvSpPr>
          <p:cNvPr id="9" name="Text 7"/>
          <p:cNvSpPr/>
          <p:nvPr/>
        </p:nvSpPr>
        <p:spPr>
          <a:xfrm>
            <a:off x="777240" y="2331720"/>
            <a:ext cx="3657600" cy="274320"/>
          </a:xfrm>
          <a:prstGeom prst="rect">
            <a:avLst/>
          </a:prstGeom>
          <a:noFill/>
          <a:ln/>
        </p:spPr>
        <p:txBody>
          <a:bodyPr wrap="square" rtlCol="0" anchor="ctr"/>
          <a:lstStyle/>
          <a:p>
            <a:pPr marL="0" indent="0">
              <a:buNone/>
            </a:pPr>
            <a:r>
              <a:rPr lang="en-US" sz="950" b="1" kern="0" spc="100" dirty="0">
                <a:solidFill>
                  <a:srgbClr val="B85042"/>
                </a:solidFill>
                <a:latin typeface="Calibri" pitchFamily="34" charset="0"/>
                <a:ea typeface="Calibri" pitchFamily="34" charset="-122"/>
                <a:cs typeface="Calibri" pitchFamily="34" charset="-120"/>
              </a:rPr>
              <a:t>ASSUMPTION — TO VALIDATE</a:t>
            </a:r>
            <a:endParaRPr lang="en-US" sz="950" dirty="0"/>
          </a:p>
        </p:txBody>
      </p:sp>
      <p:sp>
        <p:nvSpPr>
          <p:cNvPr id="10" name="Shape 8"/>
          <p:cNvSpPr/>
          <p:nvPr/>
        </p:nvSpPr>
        <p:spPr>
          <a:xfrm>
            <a:off x="548640" y="2880360"/>
            <a:ext cx="11091672" cy="1691640"/>
          </a:xfrm>
          <a:prstGeom prst="roundRect">
            <a:avLst>
              <a:gd name="adj" fmla="val 4324"/>
            </a:avLst>
          </a:prstGeom>
          <a:solidFill>
            <a:srgbClr val="F5F5F5"/>
          </a:solidFill>
          <a:ln/>
        </p:spPr>
      </p:sp>
      <p:sp>
        <p:nvSpPr>
          <p:cNvPr id="11" name="Shape 9"/>
          <p:cNvSpPr/>
          <p:nvPr/>
        </p:nvSpPr>
        <p:spPr>
          <a:xfrm>
            <a:off x="777240" y="3081528"/>
            <a:ext cx="1005840" cy="365760"/>
          </a:xfrm>
          <a:prstGeom prst="roundRect">
            <a:avLst>
              <a:gd name="adj" fmla="val 15000"/>
            </a:avLst>
          </a:prstGeom>
          <a:solidFill>
            <a:srgbClr val="2C5F2D"/>
          </a:solidFill>
          <a:ln/>
        </p:spPr>
      </p:sp>
      <p:sp>
        <p:nvSpPr>
          <p:cNvPr id="12" name="Text 10"/>
          <p:cNvSpPr/>
          <p:nvPr/>
        </p:nvSpPr>
        <p:spPr>
          <a:xfrm>
            <a:off x="777240" y="3081528"/>
            <a:ext cx="100584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HOW</a:t>
            </a:r>
            <a:endParaRPr lang="en-US" sz="1300" dirty="0"/>
          </a:p>
        </p:txBody>
      </p:sp>
      <p:sp>
        <p:nvSpPr>
          <p:cNvPr id="13" name="Text 11"/>
          <p:cNvSpPr/>
          <p:nvPr/>
        </p:nvSpPr>
        <p:spPr>
          <a:xfrm>
            <a:off x="1920240" y="3081528"/>
            <a:ext cx="2743200" cy="365760"/>
          </a:xfrm>
          <a:prstGeom prst="rect">
            <a:avLst/>
          </a:prstGeom>
          <a:noFill/>
          <a:ln/>
        </p:spPr>
        <p:txBody>
          <a:bodyPr wrap="square" rtlCol="0" anchor="ctr"/>
          <a:lstStyle/>
          <a:p>
            <a:pPr marL="0" indent="0">
              <a:buNone/>
            </a:pPr>
            <a:r>
              <a:rPr lang="en-US" sz="1300" b="1" dirty="0">
                <a:solidFill>
                  <a:srgbClr val="2A2A2A"/>
                </a:solidFill>
                <a:latin typeface="Calibri" pitchFamily="34" charset="0"/>
                <a:ea typeface="Calibri" pitchFamily="34" charset="-122"/>
                <a:cs typeface="Calibri" pitchFamily="34" charset="-120"/>
              </a:rPr>
              <a:t>Process Cycle</a:t>
            </a:r>
            <a:endParaRPr lang="en-US" sz="1300" dirty="0"/>
          </a:p>
        </p:txBody>
      </p:sp>
      <p:sp>
        <p:nvSpPr>
          <p:cNvPr id="14" name="Shape 12"/>
          <p:cNvSpPr/>
          <p:nvPr/>
        </p:nvSpPr>
        <p:spPr>
          <a:xfrm>
            <a:off x="777240" y="3593592"/>
            <a:ext cx="1984248" cy="548640"/>
          </a:xfrm>
          <a:prstGeom prst="roundRect">
            <a:avLst>
              <a:gd name="adj" fmla="val 8333"/>
            </a:avLst>
          </a:prstGeom>
          <a:solidFill>
            <a:srgbClr val="FFFFFF"/>
          </a:solidFill>
          <a:ln w="12700">
            <a:solidFill>
              <a:srgbClr val="2C5F2D"/>
            </a:solidFill>
            <a:prstDash val="solid"/>
          </a:ln>
        </p:spPr>
      </p:sp>
      <p:sp>
        <p:nvSpPr>
          <p:cNvPr id="15" name="Text 13"/>
          <p:cNvSpPr/>
          <p:nvPr/>
        </p:nvSpPr>
        <p:spPr>
          <a:xfrm>
            <a:off x="822960" y="3593592"/>
            <a:ext cx="1892808" cy="548640"/>
          </a:xfrm>
          <a:prstGeom prst="rect">
            <a:avLst/>
          </a:prstGeom>
          <a:noFill/>
          <a:ln/>
        </p:spPr>
        <p:txBody>
          <a:bodyPr wrap="square" rtlCol="0" anchor="ctr"/>
          <a:lstStyle/>
          <a:p>
            <a:pPr marL="0" indent="0" algn="ctr">
              <a:buNone/>
            </a:pPr>
            <a:r>
              <a:rPr lang="en-US" sz="1000" dirty="0">
                <a:solidFill>
                  <a:srgbClr val="2A2A2A"/>
                </a:solidFill>
                <a:latin typeface="Calibri" pitchFamily="34" charset="0"/>
                <a:ea typeface="Calibri" pitchFamily="34" charset="-122"/>
                <a:cs typeface="Calibri" pitchFamily="34" charset="-120"/>
              </a:rPr>
              <a:t>Student needs item</a:t>
            </a:r>
            <a:endParaRPr lang="en-US" sz="1000" dirty="0"/>
          </a:p>
        </p:txBody>
      </p:sp>
      <p:sp>
        <p:nvSpPr>
          <p:cNvPr id="16" name="Text 14"/>
          <p:cNvSpPr/>
          <p:nvPr/>
        </p:nvSpPr>
        <p:spPr>
          <a:xfrm>
            <a:off x="2743200" y="3593592"/>
            <a:ext cx="155448" cy="548640"/>
          </a:xfrm>
          <a:prstGeom prst="rect">
            <a:avLst/>
          </a:prstGeom>
          <a:noFill/>
          <a:ln/>
        </p:spPr>
        <p:txBody>
          <a:bodyPr wrap="square" rtlCol="0" anchor="ctr"/>
          <a:lstStyle/>
          <a:p>
            <a:pPr marL="0" indent="0" algn="ctr">
              <a:buNone/>
            </a:pPr>
            <a:r>
              <a:rPr lang="en-US" sz="1300" b="1" dirty="0">
                <a:solidFill>
                  <a:srgbClr val="2C5F2D"/>
                </a:solidFill>
              </a:rPr>
              <a:t>→</a:t>
            </a:r>
            <a:endParaRPr lang="en-US" sz="1300" dirty="0"/>
          </a:p>
        </p:txBody>
      </p:sp>
      <p:sp>
        <p:nvSpPr>
          <p:cNvPr id="17" name="Shape 15"/>
          <p:cNvSpPr/>
          <p:nvPr/>
        </p:nvSpPr>
        <p:spPr>
          <a:xfrm>
            <a:off x="2898648" y="3593592"/>
            <a:ext cx="1984248" cy="548640"/>
          </a:xfrm>
          <a:prstGeom prst="roundRect">
            <a:avLst>
              <a:gd name="adj" fmla="val 8333"/>
            </a:avLst>
          </a:prstGeom>
          <a:solidFill>
            <a:srgbClr val="FFFFFF"/>
          </a:solidFill>
          <a:ln w="12700">
            <a:solidFill>
              <a:srgbClr val="2C5F2D"/>
            </a:solidFill>
            <a:prstDash val="solid"/>
          </a:ln>
        </p:spPr>
      </p:sp>
      <p:sp>
        <p:nvSpPr>
          <p:cNvPr id="18" name="Text 16"/>
          <p:cNvSpPr/>
          <p:nvPr/>
        </p:nvSpPr>
        <p:spPr>
          <a:xfrm>
            <a:off x="2944368" y="3593592"/>
            <a:ext cx="1892808" cy="548640"/>
          </a:xfrm>
          <a:prstGeom prst="rect">
            <a:avLst/>
          </a:prstGeom>
          <a:noFill/>
          <a:ln/>
        </p:spPr>
        <p:txBody>
          <a:bodyPr wrap="square" rtlCol="0" anchor="ctr"/>
          <a:lstStyle/>
          <a:p>
            <a:pPr marL="0" indent="0" algn="ctr">
              <a:buNone/>
            </a:pPr>
            <a:r>
              <a:rPr lang="en-US" sz="1000" dirty="0">
                <a:solidFill>
                  <a:srgbClr val="2A2A2A"/>
                </a:solidFill>
                <a:latin typeface="Calibri" pitchFamily="34" charset="0"/>
                <a:ea typeface="Calibri" pitchFamily="34" charset="-122"/>
                <a:cs typeface="Calibri" pitchFamily="34" charset="-120"/>
              </a:rPr>
              <a:t>Asks friends/seniors</a:t>
            </a:r>
            <a:endParaRPr lang="en-US" sz="1000" dirty="0"/>
          </a:p>
        </p:txBody>
      </p:sp>
      <p:sp>
        <p:nvSpPr>
          <p:cNvPr id="19" name="Text 17"/>
          <p:cNvSpPr/>
          <p:nvPr/>
        </p:nvSpPr>
        <p:spPr>
          <a:xfrm>
            <a:off x="4864608" y="3593592"/>
            <a:ext cx="155448" cy="548640"/>
          </a:xfrm>
          <a:prstGeom prst="rect">
            <a:avLst/>
          </a:prstGeom>
          <a:noFill/>
          <a:ln/>
        </p:spPr>
        <p:txBody>
          <a:bodyPr wrap="square" rtlCol="0" anchor="ctr"/>
          <a:lstStyle/>
          <a:p>
            <a:pPr marL="0" indent="0" algn="ctr">
              <a:buNone/>
            </a:pPr>
            <a:r>
              <a:rPr lang="en-US" sz="1300" b="1" dirty="0">
                <a:solidFill>
                  <a:srgbClr val="2C5F2D"/>
                </a:solidFill>
              </a:rPr>
              <a:t>→</a:t>
            </a:r>
            <a:endParaRPr lang="en-US" sz="1300" dirty="0"/>
          </a:p>
        </p:txBody>
      </p:sp>
      <p:sp>
        <p:nvSpPr>
          <p:cNvPr id="20" name="Shape 18"/>
          <p:cNvSpPr/>
          <p:nvPr/>
        </p:nvSpPr>
        <p:spPr>
          <a:xfrm>
            <a:off x="5020056" y="3593592"/>
            <a:ext cx="1984248" cy="548640"/>
          </a:xfrm>
          <a:prstGeom prst="roundRect">
            <a:avLst>
              <a:gd name="adj" fmla="val 8333"/>
            </a:avLst>
          </a:prstGeom>
          <a:solidFill>
            <a:srgbClr val="FFFFFF"/>
          </a:solidFill>
          <a:ln w="12700">
            <a:solidFill>
              <a:srgbClr val="2C5F2D"/>
            </a:solidFill>
            <a:prstDash val="solid"/>
          </a:ln>
        </p:spPr>
      </p:sp>
      <p:sp>
        <p:nvSpPr>
          <p:cNvPr id="21" name="Text 19"/>
          <p:cNvSpPr/>
          <p:nvPr/>
        </p:nvSpPr>
        <p:spPr>
          <a:xfrm>
            <a:off x="5065776" y="3593592"/>
            <a:ext cx="1892808" cy="548640"/>
          </a:xfrm>
          <a:prstGeom prst="rect">
            <a:avLst/>
          </a:prstGeom>
          <a:noFill/>
          <a:ln/>
        </p:spPr>
        <p:txBody>
          <a:bodyPr wrap="square" rtlCol="0" anchor="ctr"/>
          <a:lstStyle/>
          <a:p>
            <a:pPr marL="0" indent="0" algn="ctr">
              <a:buNone/>
            </a:pPr>
            <a:r>
              <a:rPr lang="en-US" sz="1000" dirty="0">
                <a:solidFill>
                  <a:srgbClr val="2A2A2A"/>
                </a:solidFill>
                <a:latin typeface="Calibri" pitchFamily="34" charset="0"/>
                <a:ea typeface="Calibri" pitchFamily="34" charset="-122"/>
                <a:cs typeface="Calibri" pitchFamily="34" charset="-120"/>
              </a:rPr>
              <a:t>Not found → buys new</a:t>
            </a:r>
            <a:endParaRPr lang="en-US" sz="1000" dirty="0"/>
          </a:p>
        </p:txBody>
      </p:sp>
      <p:sp>
        <p:nvSpPr>
          <p:cNvPr id="22" name="Text 20"/>
          <p:cNvSpPr/>
          <p:nvPr/>
        </p:nvSpPr>
        <p:spPr>
          <a:xfrm>
            <a:off x="6986016" y="3593592"/>
            <a:ext cx="155448" cy="548640"/>
          </a:xfrm>
          <a:prstGeom prst="rect">
            <a:avLst/>
          </a:prstGeom>
          <a:noFill/>
          <a:ln/>
        </p:spPr>
        <p:txBody>
          <a:bodyPr wrap="square" rtlCol="0" anchor="ctr"/>
          <a:lstStyle/>
          <a:p>
            <a:pPr marL="0" indent="0" algn="ctr">
              <a:buNone/>
            </a:pPr>
            <a:r>
              <a:rPr lang="en-US" sz="1300" b="1" dirty="0">
                <a:solidFill>
                  <a:srgbClr val="2C5F2D"/>
                </a:solidFill>
              </a:rPr>
              <a:t>→</a:t>
            </a:r>
            <a:endParaRPr lang="en-US" sz="1300" dirty="0"/>
          </a:p>
        </p:txBody>
      </p:sp>
      <p:sp>
        <p:nvSpPr>
          <p:cNvPr id="23" name="Shape 21"/>
          <p:cNvSpPr/>
          <p:nvPr/>
        </p:nvSpPr>
        <p:spPr>
          <a:xfrm>
            <a:off x="7141464" y="3593592"/>
            <a:ext cx="1984248" cy="548640"/>
          </a:xfrm>
          <a:prstGeom prst="roundRect">
            <a:avLst>
              <a:gd name="adj" fmla="val 8333"/>
            </a:avLst>
          </a:prstGeom>
          <a:solidFill>
            <a:srgbClr val="FFFFFF"/>
          </a:solidFill>
          <a:ln w="12700">
            <a:solidFill>
              <a:srgbClr val="2C5F2D"/>
            </a:solidFill>
            <a:prstDash val="solid"/>
          </a:ln>
        </p:spPr>
      </p:sp>
      <p:sp>
        <p:nvSpPr>
          <p:cNvPr id="24" name="Text 22"/>
          <p:cNvSpPr/>
          <p:nvPr/>
        </p:nvSpPr>
        <p:spPr>
          <a:xfrm>
            <a:off x="7187184" y="3593592"/>
            <a:ext cx="1892808" cy="548640"/>
          </a:xfrm>
          <a:prstGeom prst="rect">
            <a:avLst/>
          </a:prstGeom>
          <a:noFill/>
          <a:ln/>
        </p:spPr>
        <p:txBody>
          <a:bodyPr wrap="square" rtlCol="0" anchor="ctr"/>
          <a:lstStyle/>
          <a:p>
            <a:pPr marL="0" indent="0" algn="ctr">
              <a:buNone/>
            </a:pPr>
            <a:r>
              <a:rPr lang="en-US" sz="1000" dirty="0">
                <a:solidFill>
                  <a:srgbClr val="2A2A2A"/>
                </a:solidFill>
                <a:latin typeface="Calibri" pitchFamily="34" charset="0"/>
                <a:ea typeface="Calibri" pitchFamily="34" charset="-122"/>
                <a:cs typeface="Calibri" pitchFamily="34" charset="-120"/>
              </a:rPr>
              <a:t>Uses briefly</a:t>
            </a:r>
            <a:endParaRPr lang="en-US" sz="1000" dirty="0"/>
          </a:p>
        </p:txBody>
      </p:sp>
      <p:sp>
        <p:nvSpPr>
          <p:cNvPr id="25" name="Text 23"/>
          <p:cNvSpPr/>
          <p:nvPr/>
        </p:nvSpPr>
        <p:spPr>
          <a:xfrm>
            <a:off x="9107424" y="3593592"/>
            <a:ext cx="155448" cy="548640"/>
          </a:xfrm>
          <a:prstGeom prst="rect">
            <a:avLst/>
          </a:prstGeom>
          <a:noFill/>
          <a:ln/>
        </p:spPr>
        <p:txBody>
          <a:bodyPr wrap="square" rtlCol="0" anchor="ctr"/>
          <a:lstStyle/>
          <a:p>
            <a:pPr marL="0" indent="0" algn="ctr">
              <a:buNone/>
            </a:pPr>
            <a:r>
              <a:rPr lang="en-US" sz="1300" b="1" dirty="0">
                <a:solidFill>
                  <a:srgbClr val="2C5F2D"/>
                </a:solidFill>
              </a:rPr>
              <a:t>→</a:t>
            </a:r>
            <a:endParaRPr lang="en-US" sz="1300" dirty="0"/>
          </a:p>
        </p:txBody>
      </p:sp>
      <p:sp>
        <p:nvSpPr>
          <p:cNvPr id="26" name="Shape 24"/>
          <p:cNvSpPr/>
          <p:nvPr/>
        </p:nvSpPr>
        <p:spPr>
          <a:xfrm>
            <a:off x="9262872" y="3593592"/>
            <a:ext cx="1984248" cy="548640"/>
          </a:xfrm>
          <a:prstGeom prst="roundRect">
            <a:avLst>
              <a:gd name="adj" fmla="val 8333"/>
            </a:avLst>
          </a:prstGeom>
          <a:solidFill>
            <a:srgbClr val="FFFFFF"/>
          </a:solidFill>
          <a:ln w="12700">
            <a:solidFill>
              <a:srgbClr val="2C5F2D"/>
            </a:solidFill>
            <a:prstDash val="solid"/>
          </a:ln>
        </p:spPr>
      </p:sp>
      <p:sp>
        <p:nvSpPr>
          <p:cNvPr id="27" name="Text 25"/>
          <p:cNvSpPr/>
          <p:nvPr/>
        </p:nvSpPr>
        <p:spPr>
          <a:xfrm>
            <a:off x="9308592" y="3593592"/>
            <a:ext cx="1892808" cy="548640"/>
          </a:xfrm>
          <a:prstGeom prst="rect">
            <a:avLst/>
          </a:prstGeom>
          <a:noFill/>
          <a:ln/>
        </p:spPr>
        <p:txBody>
          <a:bodyPr wrap="square" rtlCol="0" anchor="ctr"/>
          <a:lstStyle/>
          <a:p>
            <a:pPr marL="0" indent="0" algn="ctr">
              <a:buNone/>
            </a:pPr>
            <a:r>
              <a:rPr lang="en-US" sz="1000" dirty="0">
                <a:solidFill>
                  <a:srgbClr val="2A2A2A"/>
                </a:solidFill>
                <a:latin typeface="Calibri" pitchFamily="34" charset="0"/>
                <a:ea typeface="Calibri" pitchFamily="34" charset="-122"/>
                <a:cs typeface="Calibri" pitchFamily="34" charset="-120"/>
              </a:rPr>
              <a:t>Stored unused / passed on informally</a:t>
            </a:r>
            <a:endParaRPr lang="en-US" sz="1000" dirty="0"/>
          </a:p>
        </p:txBody>
      </p:sp>
      <p:sp>
        <p:nvSpPr>
          <p:cNvPr id="28" name="Text 26"/>
          <p:cNvSpPr/>
          <p:nvPr/>
        </p:nvSpPr>
        <p:spPr>
          <a:xfrm>
            <a:off x="777240" y="4251960"/>
            <a:ext cx="7315200" cy="274320"/>
          </a:xfrm>
          <a:prstGeom prst="rect">
            <a:avLst/>
          </a:prstGeom>
          <a:noFill/>
          <a:ln/>
        </p:spPr>
        <p:txBody>
          <a:bodyPr wrap="square" rtlCol="0" anchor="ctr"/>
          <a:lstStyle/>
          <a:p>
            <a:pPr marL="0" indent="0">
              <a:buNone/>
            </a:pPr>
            <a:r>
              <a:rPr lang="en-US" sz="950" b="1" kern="0" spc="100" dirty="0">
                <a:solidFill>
                  <a:srgbClr val="B85042"/>
                </a:solidFill>
                <a:latin typeface="Calibri" pitchFamily="34" charset="0"/>
                <a:ea typeface="Calibri" pitchFamily="34" charset="-122"/>
                <a:cs typeface="Calibri" pitchFamily="34" charset="-120"/>
              </a:rPr>
              <a:t>ASSUMPTION — TO VALIDATE (life-cycle to be confirmed via interviews)</a:t>
            </a:r>
            <a:endParaRPr lang="en-US" sz="950" dirty="0"/>
          </a:p>
        </p:txBody>
      </p:sp>
      <p:sp>
        <p:nvSpPr>
          <p:cNvPr id="29" name="Shape 27"/>
          <p:cNvSpPr/>
          <p:nvPr/>
        </p:nvSpPr>
        <p:spPr>
          <a:xfrm>
            <a:off x="548640" y="4800600"/>
            <a:ext cx="11091672" cy="1097280"/>
          </a:xfrm>
          <a:prstGeom prst="roundRect">
            <a:avLst>
              <a:gd name="adj" fmla="val 6667"/>
            </a:avLst>
          </a:prstGeom>
          <a:solidFill>
            <a:srgbClr val="2C5F2D"/>
          </a:solidFill>
          <a:ln/>
        </p:spPr>
      </p:sp>
      <p:sp>
        <p:nvSpPr>
          <p:cNvPr id="30" name="Shape 28"/>
          <p:cNvSpPr/>
          <p:nvPr/>
        </p:nvSpPr>
        <p:spPr>
          <a:xfrm>
            <a:off x="777240" y="5001768"/>
            <a:ext cx="1417320" cy="365760"/>
          </a:xfrm>
          <a:prstGeom prst="roundRect">
            <a:avLst>
              <a:gd name="adj" fmla="val 15000"/>
            </a:avLst>
          </a:prstGeom>
          <a:solidFill>
            <a:srgbClr val="FFFFFF"/>
          </a:solidFill>
          <a:ln/>
        </p:spPr>
      </p:sp>
      <p:sp>
        <p:nvSpPr>
          <p:cNvPr id="31" name="Text 29"/>
          <p:cNvSpPr/>
          <p:nvPr/>
        </p:nvSpPr>
        <p:spPr>
          <a:xfrm>
            <a:off x="777240" y="5001768"/>
            <a:ext cx="1417320" cy="365760"/>
          </a:xfrm>
          <a:prstGeom prst="rect">
            <a:avLst/>
          </a:prstGeom>
          <a:noFill/>
          <a:ln/>
        </p:spPr>
        <p:txBody>
          <a:bodyPr wrap="square" rtlCol="0" anchor="ctr"/>
          <a:lstStyle/>
          <a:p>
            <a:pPr marL="0" indent="0" algn="ctr">
              <a:buNone/>
            </a:pPr>
            <a:r>
              <a:rPr lang="en-US" sz="1300" b="1" dirty="0">
                <a:solidFill>
                  <a:srgbClr val="2C5F2D"/>
                </a:solidFill>
                <a:latin typeface="Calibri" pitchFamily="34" charset="0"/>
                <a:ea typeface="Calibri" pitchFamily="34" charset="-122"/>
                <a:cs typeface="Calibri" pitchFamily="34" charset="-120"/>
              </a:rPr>
              <a:t>HOW MUCH</a:t>
            </a:r>
            <a:endParaRPr lang="en-US" sz="1300" dirty="0"/>
          </a:p>
        </p:txBody>
      </p:sp>
      <p:sp>
        <p:nvSpPr>
          <p:cNvPr id="32" name="Text 30"/>
          <p:cNvSpPr/>
          <p:nvPr/>
        </p:nvSpPr>
        <p:spPr>
          <a:xfrm>
            <a:off x="2331720" y="5001768"/>
            <a:ext cx="320040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Impact (count &amp; cost)</a:t>
            </a:r>
            <a:endParaRPr lang="en-US" sz="1300" dirty="0"/>
          </a:p>
        </p:txBody>
      </p:sp>
      <p:sp>
        <p:nvSpPr>
          <p:cNvPr id="33" name="Text 31"/>
          <p:cNvSpPr/>
          <p:nvPr/>
        </p:nvSpPr>
        <p:spPr>
          <a:xfrm>
            <a:off x="777240" y="5394960"/>
            <a:ext cx="10607040" cy="457200"/>
          </a:xfrm>
          <a:prstGeom prst="rect">
            <a:avLst/>
          </a:prstGeom>
          <a:noFill/>
          <a:ln/>
        </p:spPr>
        <p:txBody>
          <a:bodyPr wrap="square" rtlCol="0" anchor="t"/>
          <a:lstStyle/>
          <a:p>
            <a:pPr marL="0" indent="0">
              <a:lnSpc>
                <a:spcPct val="110000"/>
              </a:lnSpc>
              <a:buNone/>
            </a:pPr>
            <a:r>
              <a:rPr lang="en-US" sz="1200" dirty="0">
                <a:solidFill>
                  <a:srgbClr val="F0F0F0"/>
                </a:solidFill>
                <a:latin typeface="Calibri" pitchFamily="34" charset="0"/>
                <a:ea typeface="Calibri" pitchFamily="34" charset="-122"/>
                <a:cs typeface="Calibri" pitchFamily="34" charset="-120"/>
              </a:rPr>
              <a:t>Not yet quantified. Placeholder estimate: potentially a few dozen unused items per department per semester, per-item cost roughly ₹300–₹3000 — needs confirmation via a 20–30 student survey (Stage 1 of our plan).</a:t>
            </a:r>
            <a:endParaRPr lang="en-US" sz="1200" dirty="0"/>
          </a:p>
        </p:txBody>
      </p:sp>
      <p:sp>
        <p:nvSpPr>
          <p:cNvPr id="34" name="Text 32"/>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6B6B"/>
                </a:solidFill>
                <a:latin typeface="Calibri" pitchFamily="34" charset="0"/>
                <a:ea typeface="Calibri" pitchFamily="34" charset="-122"/>
                <a:cs typeface="Calibri" pitchFamily="34" charset="-120"/>
              </a:rPr>
              <a:t>CampusCycle — Project Overview</a:t>
            </a:r>
            <a:endParaRPr lang="en-US" sz="1000" dirty="0"/>
          </a:p>
        </p:txBody>
      </p:sp>
      <p:sp>
        <p:nvSpPr>
          <p:cNvPr id="35" name="Text 33"/>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983</Words>
  <Application>Microsoft Office PowerPoint</Application>
  <PresentationFormat>Widescreen</PresentationFormat>
  <Paragraphs>215</Paragraphs>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Arial Black</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Gvenkat rajireddy</cp:lastModifiedBy>
  <cp:revision>2</cp:revision>
  <dcterms:created xsi:type="dcterms:W3CDTF">2026-08-20T01:47:36Z</dcterms:created>
  <dcterms:modified xsi:type="dcterms:W3CDTF">2026-08-27T05:00:29Z</dcterms:modified>
</cp:coreProperties>
</file>